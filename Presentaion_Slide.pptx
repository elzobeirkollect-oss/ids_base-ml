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2"/>
    <p:sldId id="286" r:id="rId3"/>
    <p:sldId id="302" r:id="rId4"/>
    <p:sldId id="293" r:id="rId5"/>
    <p:sldId id="299" r:id="rId6"/>
    <p:sldId id="300" r:id="rId7"/>
    <p:sldId id="287" r:id="rId8"/>
    <p:sldId id="291" r:id="rId9"/>
    <p:sldId id="292" r:id="rId10"/>
    <p:sldId id="289" r:id="rId11"/>
    <p:sldId id="290" r:id="rId12"/>
    <p:sldId id="294" r:id="rId13"/>
    <p:sldId id="298" r:id="rId14"/>
    <p:sldId id="296" r:id="rId15"/>
    <p:sldId id="295" r:id="rId16"/>
    <p:sldId id="297" r:id="rId17"/>
    <p:sldId id="301" r:id="rId18"/>
    <p:sldId id="285" r:id="rId19"/>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182" autoAdjust="0"/>
    <p:restoredTop sz="94619"/>
  </p:normalViewPr>
  <p:slideViewPr>
    <p:cSldViewPr>
      <p:cViewPr varScale="1">
        <p:scale>
          <a:sx n="59" d="100"/>
          <a:sy n="59" d="100"/>
        </p:scale>
        <p:origin x="1400" y="5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92756788-63D4-EB4F-99EF-7BBF5AB1297B}" type="datetimeFigureOut">
              <a:rPr lang="en-US" smtClean="0"/>
              <a:t>1/22/2025</a:t>
            </a:fld>
            <a:endParaRPr lang="en-US"/>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8BF62143-CA96-A848-ABE3-A675801DB3BD}" type="slidenum">
              <a:rPr lang="en-US" smtClean="0"/>
              <a:t>‹#›</a:t>
            </a:fld>
            <a:endParaRPr lang="en-US"/>
          </a:p>
        </p:txBody>
      </p:sp>
    </p:spTree>
    <p:extLst>
      <p:ext uri="{BB962C8B-B14F-4D97-AF65-F5344CB8AC3E}">
        <p14:creationId xmlns:p14="http://schemas.microsoft.com/office/powerpoint/2010/main" val="25312339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F62143-CA96-A848-ABE3-A675801DB3BD}" type="slidenum">
              <a:rPr lang="en-US" smtClean="0"/>
              <a:t>13</a:t>
            </a:fld>
            <a:endParaRPr lang="en-US"/>
          </a:p>
        </p:txBody>
      </p:sp>
    </p:spTree>
    <p:extLst>
      <p:ext uri="{BB962C8B-B14F-4D97-AF65-F5344CB8AC3E}">
        <p14:creationId xmlns:p14="http://schemas.microsoft.com/office/powerpoint/2010/main" val="34958492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26440" y="1232661"/>
            <a:ext cx="7691119" cy="391159"/>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466090" y="169204"/>
            <a:ext cx="7611110" cy="1489075"/>
          </a:xfrm>
        </p:spPr>
        <p:txBody>
          <a:bodyPr lIns="0" tIns="0" rIns="0" bIns="0"/>
          <a:lstStyle>
            <a:lvl1pPr>
              <a:defRPr sz="4800" b="1" i="0">
                <a:solidFill>
                  <a:srgbClr val="042367"/>
                </a:solidFill>
                <a:latin typeface="Liberation Sans Narrow"/>
                <a:cs typeface="Liberation Sans Narrow"/>
              </a:defRPr>
            </a:lvl1pPr>
          </a:lstStyle>
          <a:p>
            <a:endParaRPr/>
          </a:p>
        </p:txBody>
      </p:sp>
      <p:sp>
        <p:nvSpPr>
          <p:cNvPr id="3" name="Holder 3"/>
          <p:cNvSpPr>
            <a:spLocks noGrp="1"/>
          </p:cNvSpPr>
          <p:nvPr>
            <p:ph type="body" idx="1"/>
          </p:nvPr>
        </p:nvSpPr>
        <p:spPr>
          <a:xfrm>
            <a:off x="466090" y="1828800"/>
            <a:ext cx="8373110" cy="4190999"/>
          </a:xfrm>
        </p:spPr>
        <p:txBody>
          <a:bodyPr lIns="0" tIns="0" rIns="0" bIns="0"/>
          <a:lstStyle>
            <a:lvl1pPr>
              <a:defRPr sz="4800" b="1" i="0">
                <a:solidFill>
                  <a:srgbClr val="042367"/>
                </a:solidFill>
                <a:latin typeface="Liberation Sans Narrow"/>
                <a:cs typeface="Liberation Sans Narrow"/>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rgbClr val="042367"/>
                </a:solidFill>
                <a:latin typeface="Liberation Sans Narrow"/>
                <a:cs typeface="Liberation Sans Narrow"/>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340858" y="1728977"/>
            <a:ext cx="3200400" cy="3964304"/>
          </a:xfrm>
          <a:prstGeom prst="rect">
            <a:avLst/>
          </a:prstGeom>
        </p:spPr>
        <p:txBody>
          <a:bodyPr wrap="square" lIns="0" tIns="0" rIns="0" bIns="0">
            <a:spAutoFit/>
          </a:bodyPr>
          <a:lstStyle>
            <a:lvl1pPr>
              <a:defRPr b="0" i="0">
                <a:solidFill>
                  <a:schemeClr val="tx1"/>
                </a:solidFill>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rgbClr val="042367"/>
                </a:solidFill>
                <a:latin typeface="Liberation Sans Narrow"/>
                <a:cs typeface="Liberation Sans Narrow"/>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365577" y="400999"/>
            <a:ext cx="8554506" cy="645699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424542" y="0"/>
            <a:ext cx="8109857" cy="1489075"/>
          </a:xfrm>
          <a:prstGeom prst="rect">
            <a:avLst/>
          </a:prstGeom>
        </p:spPr>
        <p:txBody>
          <a:bodyPr wrap="square" lIns="0" tIns="0" rIns="0" bIns="0">
            <a:spAutoFit/>
          </a:bodyPr>
          <a:lstStyle>
            <a:lvl1pPr>
              <a:defRPr sz="4800" b="1" i="0">
                <a:solidFill>
                  <a:srgbClr val="042367"/>
                </a:solidFill>
                <a:latin typeface="Liberation Sans Narrow"/>
                <a:cs typeface="Liberation Sans Narrow"/>
              </a:defRPr>
            </a:lvl1pPr>
          </a:lstStyle>
          <a:p>
            <a:endParaRPr dirty="0"/>
          </a:p>
        </p:txBody>
      </p:sp>
      <p:sp>
        <p:nvSpPr>
          <p:cNvPr id="3" name="Holder 3"/>
          <p:cNvSpPr>
            <a:spLocks noGrp="1"/>
          </p:cNvSpPr>
          <p:nvPr>
            <p:ph type="body" idx="1"/>
          </p:nvPr>
        </p:nvSpPr>
        <p:spPr>
          <a:xfrm>
            <a:off x="365577" y="1676400"/>
            <a:ext cx="8412846" cy="4267199"/>
          </a:xfrm>
          <a:prstGeom prst="rect">
            <a:avLst/>
          </a:prstGeom>
        </p:spPr>
        <p:txBody>
          <a:bodyPr wrap="square" lIns="0" tIns="0" rIns="0" bIns="0">
            <a:spAutoFit/>
          </a:bodyPr>
          <a:lstStyle>
            <a:lvl1pPr>
              <a:defRPr sz="4800" b="1" i="0">
                <a:solidFill>
                  <a:srgbClr val="042367"/>
                </a:solidFill>
                <a:latin typeface="Liberation Sans Narrow"/>
                <a:cs typeface="Liberation Sans Narrow"/>
              </a:defRPr>
            </a:lvl1pPr>
          </a:lstStyle>
          <a:p>
            <a:endParaRPr dirty="0"/>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1/22/2025</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hyperlink" Target="https://doi.org/10.1016/j.cose.2023.102839" TargetMode="External"/><Relationship Id="rId2" Type="http://schemas.openxmlformats.org/officeDocument/2006/relationships/hyperlink" Target="https://aircconline.com/ijmit/V15N3/15323ijmit01.pdf" TargetMode="Externa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9143999" cy="6857997"/>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body" idx="1"/>
          </p:nvPr>
        </p:nvSpPr>
        <p:spPr>
          <a:xfrm>
            <a:off x="1066800" y="1752600"/>
            <a:ext cx="7620000" cy="3308598"/>
          </a:xfrm>
          <a:prstGeom prst="rect">
            <a:avLst/>
          </a:prstGeom>
        </p:spPr>
        <p:txBody>
          <a:bodyPr vert="horz" wrap="square" lIns="0" tIns="12700" rIns="0" bIns="0" rtlCol="0">
            <a:spAutoFit/>
          </a:bodyPr>
          <a:lstStyle/>
          <a:p>
            <a:pPr marL="216535" marR="5080" indent="-204470" algn="ctr">
              <a:lnSpc>
                <a:spcPct val="100000"/>
              </a:lnSpc>
              <a:spcBef>
                <a:spcPts val="100"/>
              </a:spcBef>
            </a:pPr>
            <a:r>
              <a:rPr lang="en-MY" sz="2400" spc="-5" dirty="0">
                <a:latin typeface="Century Gothic" panose="020B0502020202020204" pitchFamily="34" charset="0"/>
              </a:rPr>
              <a:t>FINAL YEAR PROJECT 2</a:t>
            </a:r>
          </a:p>
          <a:p>
            <a:pPr marL="216535" marR="5080" indent="-204470" algn="ctr">
              <a:lnSpc>
                <a:spcPct val="100000"/>
              </a:lnSpc>
              <a:spcBef>
                <a:spcPts val="100"/>
              </a:spcBef>
            </a:pPr>
            <a:r>
              <a:rPr lang="en-MY" sz="2400" spc="-5" dirty="0">
                <a:latin typeface="Century Gothic" panose="020B0502020202020204" pitchFamily="34" charset="0"/>
              </a:rPr>
              <a:t>PRESENTATION</a:t>
            </a:r>
          </a:p>
          <a:p>
            <a:pPr marL="216535" marR="5080" indent="-204470" algn="ctr">
              <a:lnSpc>
                <a:spcPct val="100000"/>
              </a:lnSpc>
              <a:spcBef>
                <a:spcPts val="100"/>
              </a:spcBef>
            </a:pPr>
            <a:r>
              <a:rPr lang="en-US" sz="2400" spc="-5" dirty="0">
                <a:latin typeface="Century Gothic" panose="020B0502020202020204" pitchFamily="34" charset="0"/>
              </a:rPr>
              <a:t>Machine Learning based intrusion detection system </a:t>
            </a:r>
          </a:p>
          <a:p>
            <a:pPr marL="216535" marR="5080" indent="-204470" algn="ctr">
              <a:lnSpc>
                <a:spcPct val="100000"/>
              </a:lnSpc>
              <a:spcBef>
                <a:spcPts val="100"/>
              </a:spcBef>
            </a:pPr>
            <a:endParaRPr lang="en-US" sz="2400" spc="-5" dirty="0">
              <a:latin typeface="Century Gothic" panose="020B0502020202020204" pitchFamily="34" charset="0"/>
            </a:endParaRPr>
          </a:p>
          <a:p>
            <a:pPr marL="216535" marR="5080" indent="-204470" algn="ctr">
              <a:lnSpc>
                <a:spcPct val="100000"/>
              </a:lnSpc>
              <a:spcBef>
                <a:spcPts val="100"/>
              </a:spcBef>
            </a:pPr>
            <a:r>
              <a:rPr lang="en-US" sz="2400" spc="-5" dirty="0">
                <a:latin typeface="Century Gothic" panose="020B0502020202020204" pitchFamily="34" charset="0"/>
              </a:rPr>
              <a:t> </a:t>
            </a:r>
            <a:r>
              <a:rPr lang="en-US" sz="1800" spc="-5" dirty="0">
                <a:latin typeface="Century Gothic" panose="020B0502020202020204" pitchFamily="34" charset="0"/>
              </a:rPr>
              <a:t>ELZOBEIR SALIH MAHMOU MOHAMAD    AIU21102130</a:t>
            </a:r>
          </a:p>
          <a:p>
            <a:pPr marL="216535" marR="5080" indent="-204470" algn="ctr">
              <a:lnSpc>
                <a:spcPct val="100000"/>
              </a:lnSpc>
              <a:spcBef>
                <a:spcPts val="100"/>
              </a:spcBef>
            </a:pPr>
            <a:r>
              <a:rPr lang="en-US" sz="1800" spc="-5" dirty="0">
                <a:latin typeface="Century Gothic" panose="020B0502020202020204" pitchFamily="34" charset="0"/>
              </a:rPr>
              <a:t> AFRAH HAMID ALI NOOR MOHAMAD     AIU21102155</a:t>
            </a:r>
          </a:p>
          <a:p>
            <a:r>
              <a:rPr lang="nb-NO" sz="1800" b="1" dirty="0"/>
              <a:t>              </a:t>
            </a:r>
          </a:p>
          <a:p>
            <a:endParaRPr lang="nb-NO" sz="1800" dirty="0"/>
          </a:p>
          <a:p>
            <a:endParaRPr lang="nb-NO" sz="1800" b="1" dirty="0"/>
          </a:p>
          <a:p>
            <a:pPr algn="ctr"/>
            <a:r>
              <a:rPr lang="nb-NO" sz="1800" b="1" dirty="0"/>
              <a:t>Supervisor:</a:t>
            </a:r>
            <a:r>
              <a:rPr lang="nb-NO" sz="1800" dirty="0"/>
              <a:t> Professor Dr. Khalid Hussain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700E2D3-2508-6929-433E-F52F482070DA}"/>
              </a:ext>
            </a:extLst>
          </p:cNvPr>
          <p:cNvSpPr>
            <a:spLocks noGrp="1"/>
          </p:cNvSpPr>
          <p:nvPr>
            <p:ph type="title"/>
          </p:nvPr>
        </p:nvSpPr>
        <p:spPr>
          <a:xfrm>
            <a:off x="304800" y="763371"/>
            <a:ext cx="7924800" cy="677108"/>
          </a:xfrm>
        </p:spPr>
        <p:txBody>
          <a:bodyPr/>
          <a:lstStyle/>
          <a:p>
            <a:pPr marL="514350" indent="-514350" algn="ctr">
              <a:buFont typeface="+mj-lt"/>
              <a:buAutoNum type="arabicPeriod"/>
            </a:pPr>
            <a:r>
              <a:rPr lang="en-US" sz="4400" kern="0" dirty="0">
                <a:solidFill>
                  <a:sysClr val="windowText" lastClr="000000"/>
                </a:solidFill>
                <a:latin typeface="Century Gothic" panose="020B0502020202020204" pitchFamily="34" charset="0"/>
              </a:rPr>
              <a:t>Introduction</a:t>
            </a:r>
          </a:p>
        </p:txBody>
      </p:sp>
      <p:sp>
        <p:nvSpPr>
          <p:cNvPr id="5" name="Content Placeholder 2">
            <a:extLst>
              <a:ext uri="{FF2B5EF4-FFF2-40B4-BE49-F238E27FC236}">
                <a16:creationId xmlns:a16="http://schemas.microsoft.com/office/drawing/2014/main" id="{DCD30E87-F787-0E5F-9B6B-AD985DD0D4B6}"/>
              </a:ext>
            </a:extLst>
          </p:cNvPr>
          <p:cNvSpPr txBox="1">
            <a:spLocks/>
          </p:cNvSpPr>
          <p:nvPr/>
        </p:nvSpPr>
        <p:spPr>
          <a:xfrm>
            <a:off x="609600" y="1295401"/>
            <a:ext cx="8229600" cy="457200"/>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457200" indent="-457200">
              <a:buFont typeface="Arial" panose="020B0604020202020204" pitchFamily="34" charset="0"/>
              <a:buChar char="•"/>
            </a:pPr>
            <a:endParaRPr lang="en-US" sz="2400" kern="0" dirty="0">
              <a:solidFill>
                <a:sysClr val="windowText" lastClr="000000"/>
              </a:solidFill>
              <a:latin typeface="Century Gothic" panose="020B0502020202020204" pitchFamily="34" charset="0"/>
            </a:endParaRPr>
          </a:p>
        </p:txBody>
      </p:sp>
      <p:sp>
        <p:nvSpPr>
          <p:cNvPr id="3" name="TextBox 2">
            <a:extLst>
              <a:ext uri="{FF2B5EF4-FFF2-40B4-BE49-F238E27FC236}">
                <a16:creationId xmlns:a16="http://schemas.microsoft.com/office/drawing/2014/main" id="{25EEB525-B06C-64D2-8DCC-349DB2891F64}"/>
              </a:ext>
            </a:extLst>
          </p:cNvPr>
          <p:cNvSpPr txBox="1"/>
          <p:nvPr/>
        </p:nvSpPr>
        <p:spPr>
          <a:xfrm>
            <a:off x="0" y="1915299"/>
            <a:ext cx="3200400" cy="369332"/>
          </a:xfrm>
          <a:prstGeom prst="rect">
            <a:avLst/>
          </a:prstGeom>
          <a:noFill/>
        </p:spPr>
        <p:txBody>
          <a:bodyPr wrap="square">
            <a:spAutoFit/>
          </a:bodyPr>
          <a:lstStyle/>
          <a:p>
            <a:pPr lvl="1"/>
            <a:r>
              <a:rPr lang="en-US" sz="1800" b="1" kern="0" dirty="0">
                <a:solidFill>
                  <a:sysClr val="windowText" lastClr="000000"/>
                </a:solidFill>
                <a:latin typeface="Century Gothic" panose="020B0502020202020204" pitchFamily="34" charset="0"/>
              </a:rPr>
              <a:t>1.1Project Background</a:t>
            </a:r>
          </a:p>
        </p:txBody>
      </p:sp>
      <p:sp>
        <p:nvSpPr>
          <p:cNvPr id="7" name="TextBox 6">
            <a:extLst>
              <a:ext uri="{FF2B5EF4-FFF2-40B4-BE49-F238E27FC236}">
                <a16:creationId xmlns:a16="http://schemas.microsoft.com/office/drawing/2014/main" id="{74BB6936-503B-6D0E-5A2D-822BE7EC47D3}"/>
              </a:ext>
            </a:extLst>
          </p:cNvPr>
          <p:cNvSpPr txBox="1"/>
          <p:nvPr/>
        </p:nvSpPr>
        <p:spPr>
          <a:xfrm>
            <a:off x="1161222" y="2514600"/>
            <a:ext cx="7048500" cy="3139321"/>
          </a:xfrm>
          <a:prstGeom prst="rect">
            <a:avLst/>
          </a:prstGeom>
          <a:noFill/>
        </p:spPr>
        <p:txBody>
          <a:bodyPr wrap="square">
            <a:spAutoFit/>
          </a:bodyPr>
          <a:lstStyle/>
          <a:p>
            <a:pPr algn="just"/>
            <a:r>
              <a:rPr lang="en-US" dirty="0">
                <a:latin typeface="Century Gothic" panose="020B0502020202020204" pitchFamily="34" charset="0"/>
              </a:rPr>
              <a:t>The Internet has become one of the essential  aspects for modern society but introduces significant cybersecurity threats. Traditional Intrusion Detection Systems (IDS), relying on signature- or rule-based methods, struggle with real-time detection of evolving threats and handling imbalanced datasets. This study proposes enhancing IDS using machine learning algorithms to improve detection accuracy, address data imbalance, and analyze real-time traffic effectively. By leveraging the UNSW-NB15 dataset, this advanced IDS aims to tackle modern threats and adapt to diverse organizational needs.</a:t>
            </a:r>
          </a:p>
        </p:txBody>
      </p:sp>
    </p:spTree>
    <p:extLst>
      <p:ext uri="{BB962C8B-B14F-4D97-AF65-F5344CB8AC3E}">
        <p14:creationId xmlns:p14="http://schemas.microsoft.com/office/powerpoint/2010/main" val="20931062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700E2D3-2508-6929-433E-F52F482070DA}"/>
              </a:ext>
            </a:extLst>
          </p:cNvPr>
          <p:cNvSpPr>
            <a:spLocks noGrp="1"/>
          </p:cNvSpPr>
          <p:nvPr>
            <p:ph type="title"/>
          </p:nvPr>
        </p:nvSpPr>
        <p:spPr>
          <a:xfrm>
            <a:off x="152400" y="846893"/>
            <a:ext cx="7924800" cy="677108"/>
          </a:xfrm>
        </p:spPr>
        <p:txBody>
          <a:bodyPr/>
          <a:lstStyle/>
          <a:p>
            <a:pPr marL="514350" indent="-514350" algn="ctr">
              <a:buFont typeface="+mj-lt"/>
              <a:buAutoNum type="arabicPeriod"/>
            </a:pPr>
            <a:r>
              <a:rPr lang="en-US" sz="4400" kern="0" dirty="0">
                <a:solidFill>
                  <a:sysClr val="windowText" lastClr="000000"/>
                </a:solidFill>
                <a:latin typeface="Century Gothic" panose="020B0502020202020204" pitchFamily="34" charset="0"/>
              </a:rPr>
              <a:t>Introduction</a:t>
            </a:r>
          </a:p>
        </p:txBody>
      </p:sp>
      <p:sp>
        <p:nvSpPr>
          <p:cNvPr id="5" name="Content Placeholder 2">
            <a:extLst>
              <a:ext uri="{FF2B5EF4-FFF2-40B4-BE49-F238E27FC236}">
                <a16:creationId xmlns:a16="http://schemas.microsoft.com/office/drawing/2014/main" id="{DCD30E87-F787-0E5F-9B6B-AD985DD0D4B6}"/>
              </a:ext>
            </a:extLst>
          </p:cNvPr>
          <p:cNvSpPr txBox="1">
            <a:spLocks/>
          </p:cNvSpPr>
          <p:nvPr/>
        </p:nvSpPr>
        <p:spPr>
          <a:xfrm>
            <a:off x="609600" y="1295401"/>
            <a:ext cx="8229600" cy="457200"/>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457200" indent="-457200">
              <a:buFont typeface="Arial" panose="020B0604020202020204" pitchFamily="34" charset="0"/>
              <a:buChar char="•"/>
            </a:pPr>
            <a:endParaRPr lang="en-US" sz="2400" kern="0" dirty="0">
              <a:solidFill>
                <a:sysClr val="windowText" lastClr="000000"/>
              </a:solidFill>
              <a:latin typeface="Century Gothic" panose="020B0502020202020204" pitchFamily="34" charset="0"/>
            </a:endParaRPr>
          </a:p>
        </p:txBody>
      </p:sp>
      <p:sp>
        <p:nvSpPr>
          <p:cNvPr id="3" name="TextBox 2">
            <a:extLst>
              <a:ext uri="{FF2B5EF4-FFF2-40B4-BE49-F238E27FC236}">
                <a16:creationId xmlns:a16="http://schemas.microsoft.com/office/drawing/2014/main" id="{25EEB525-B06C-64D2-8DCC-349DB2891F64}"/>
              </a:ext>
            </a:extLst>
          </p:cNvPr>
          <p:cNvSpPr txBox="1"/>
          <p:nvPr/>
        </p:nvSpPr>
        <p:spPr>
          <a:xfrm>
            <a:off x="-76200" y="1832226"/>
            <a:ext cx="5105400" cy="369332"/>
          </a:xfrm>
          <a:prstGeom prst="rect">
            <a:avLst/>
          </a:prstGeom>
          <a:noFill/>
        </p:spPr>
        <p:txBody>
          <a:bodyPr wrap="square">
            <a:spAutoFit/>
          </a:bodyPr>
          <a:lstStyle/>
          <a:p>
            <a:pPr lvl="1"/>
            <a:r>
              <a:rPr lang="en-US" b="1" dirty="0">
                <a:latin typeface="Century Gothic" panose="020B0502020202020204" pitchFamily="34" charset="0"/>
              </a:rPr>
              <a:t>Types of IDS and Their Functions</a:t>
            </a:r>
            <a:endParaRPr lang="en-US" b="1" kern="0" dirty="0">
              <a:solidFill>
                <a:sysClr val="windowText" lastClr="000000"/>
              </a:solidFill>
              <a:latin typeface="Century Gothic" panose="020B0502020202020204" pitchFamily="34" charset="0"/>
            </a:endParaRPr>
          </a:p>
        </p:txBody>
      </p:sp>
      <p:sp>
        <p:nvSpPr>
          <p:cNvPr id="2" name="Rectangle 1">
            <a:extLst>
              <a:ext uri="{FF2B5EF4-FFF2-40B4-BE49-F238E27FC236}">
                <a16:creationId xmlns:a16="http://schemas.microsoft.com/office/drawing/2014/main" id="{43303189-3861-7F91-95E2-3066301746A8}"/>
              </a:ext>
            </a:extLst>
          </p:cNvPr>
          <p:cNvSpPr>
            <a:spLocks noChangeArrowheads="1"/>
          </p:cNvSpPr>
          <p:nvPr/>
        </p:nvSpPr>
        <p:spPr bwMode="auto">
          <a:xfrm>
            <a:off x="971550" y="2667000"/>
            <a:ext cx="720090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Century Gothic" panose="020B0502020202020204" pitchFamily="34" charset="0"/>
              </a:rPr>
              <a:t>IDS : </a:t>
            </a:r>
            <a:r>
              <a:rPr kumimoji="0" lang="en-US" altLang="en-US" sz="1800" i="0" u="none" strike="noStrike" cap="none" normalizeH="0" baseline="0" dirty="0">
                <a:ln>
                  <a:noFill/>
                </a:ln>
                <a:solidFill>
                  <a:schemeClr val="tx1"/>
                </a:solidFill>
                <a:effectLst/>
                <a:latin typeface="Century Gothic" panose="020B0502020202020204" pitchFamily="34" charset="0"/>
              </a:rPr>
              <a:t>is a cybersecurity solution designed to monitor, detect, and alert on unauthorized or suspicious activity within a network or system </a:t>
            </a:r>
          </a:p>
          <a:p>
            <a:pPr marL="0" marR="0" lvl="0" indent="0" algn="just" defTabSz="914400" rtl="0" eaLnBrk="0" fontAlgn="base" latinLnBrk="0" hangingPunct="0">
              <a:lnSpc>
                <a:spcPct val="100000"/>
              </a:lnSpc>
              <a:spcBef>
                <a:spcPct val="0"/>
              </a:spcBef>
              <a:spcAft>
                <a:spcPct val="0"/>
              </a:spcAft>
              <a:buClrTx/>
              <a:buSzTx/>
              <a:buFontTx/>
              <a:buChar char="•"/>
              <a:tabLst/>
            </a:pPr>
            <a:endParaRPr lang="en-US" altLang="en-US" b="1" dirty="0">
              <a:latin typeface="Century Gothic" panose="020B0502020202020204" pitchFamily="34" charset="0"/>
            </a:endParaRPr>
          </a:p>
          <a:p>
            <a:pPr marL="0" marR="0" lvl="0" indent="0" algn="just"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Century Gothic" panose="020B0502020202020204" pitchFamily="34" charset="0"/>
              </a:rPr>
              <a:t>Signature-Based IDS:</a:t>
            </a:r>
            <a:r>
              <a:rPr lang="en-US" altLang="en-US" dirty="0">
                <a:latin typeface="Century Gothic" panose="020B0502020202020204" pitchFamily="34" charset="0"/>
              </a:rPr>
              <a:t> </a:t>
            </a:r>
            <a:r>
              <a:rPr kumimoji="0" lang="en-US" altLang="en-US" sz="1800" b="0" i="0" u="none" strike="noStrike" cap="none" normalizeH="0" baseline="0" dirty="0">
                <a:ln>
                  <a:noFill/>
                </a:ln>
                <a:solidFill>
                  <a:schemeClr val="tx1"/>
                </a:solidFill>
                <a:effectLst/>
                <a:latin typeface="Century Gothic" panose="020B0502020202020204" pitchFamily="34" charset="0"/>
              </a:rPr>
              <a:t>Detects attacks by matching known patterns or “RULE based."</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Century Gothic" panose="020B0502020202020204" pitchFamily="34" charset="0"/>
              </a:rPr>
              <a:t>Limitation:</a:t>
            </a:r>
            <a:r>
              <a:rPr kumimoji="0" lang="en-US" altLang="en-US" sz="1800" b="0" i="0" u="none" strike="noStrike" cap="none" normalizeH="0" baseline="0" dirty="0">
                <a:ln>
                  <a:noFill/>
                </a:ln>
                <a:solidFill>
                  <a:schemeClr val="tx1"/>
                </a:solidFill>
                <a:effectLst/>
                <a:latin typeface="Century Gothic" panose="020B0502020202020204" pitchFamily="34" charset="0"/>
              </a:rPr>
              <a:t> Ineffective against unknown or novel threats.</a:t>
            </a:r>
            <a:endParaRPr lang="en-US" altLang="en-US" dirty="0">
              <a:latin typeface="Century Gothic" panose="020B0502020202020204" pitchFamily="34" charset="0"/>
            </a:endParaRPr>
          </a:p>
          <a:p>
            <a:pPr marR="0" lvl="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Century Gothic" panose="020B0502020202020204" pitchFamily="34" charset="0"/>
            </a:endParaRPr>
          </a:p>
          <a:p>
            <a:pPr marL="0" marR="0" lvl="0" indent="0" algn="just"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Century Gothic" panose="020B0502020202020204" pitchFamily="34" charset="0"/>
              </a:rPr>
              <a:t>Anomaly-Based IDS:</a:t>
            </a:r>
            <a:r>
              <a:rPr lang="en-US" altLang="en-US" dirty="0">
                <a:latin typeface="Century Gothic" panose="020B0502020202020204" pitchFamily="34" charset="0"/>
              </a:rPr>
              <a:t> </a:t>
            </a:r>
            <a:r>
              <a:rPr kumimoji="0" lang="en-US" altLang="en-US" sz="1800" b="0" i="0" u="none" strike="noStrike" cap="none" normalizeH="0" baseline="0" dirty="0">
                <a:ln>
                  <a:noFill/>
                </a:ln>
                <a:solidFill>
                  <a:schemeClr val="tx1"/>
                </a:solidFill>
                <a:effectLst/>
                <a:latin typeface="Century Gothic" panose="020B0502020202020204" pitchFamily="34" charset="0"/>
              </a:rPr>
              <a:t>Identifies deviations from normal behavior to detect potential threats.</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Century Gothic" panose="020B0502020202020204" pitchFamily="34" charset="0"/>
              </a:rPr>
              <a:t>Advantage:</a:t>
            </a:r>
            <a:r>
              <a:rPr kumimoji="0" lang="en-US" altLang="en-US" sz="1800" b="0" i="0" u="none" strike="noStrike" cap="none" normalizeH="0" baseline="0" dirty="0">
                <a:ln>
                  <a:noFill/>
                </a:ln>
                <a:solidFill>
                  <a:schemeClr val="tx1"/>
                </a:solidFill>
                <a:effectLst/>
                <a:latin typeface="Century Gothic" panose="020B0502020202020204" pitchFamily="34" charset="0"/>
              </a:rPr>
              <a:t> Can detect unknown threats but may produce false positives.</a:t>
            </a:r>
          </a:p>
        </p:txBody>
      </p:sp>
    </p:spTree>
    <p:extLst>
      <p:ext uri="{BB962C8B-B14F-4D97-AF65-F5344CB8AC3E}">
        <p14:creationId xmlns:p14="http://schemas.microsoft.com/office/powerpoint/2010/main" val="7284083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700E2D3-2508-6929-433E-F52F482070DA}"/>
              </a:ext>
            </a:extLst>
          </p:cNvPr>
          <p:cNvSpPr>
            <a:spLocks noGrp="1"/>
          </p:cNvSpPr>
          <p:nvPr>
            <p:ph type="title"/>
          </p:nvPr>
        </p:nvSpPr>
        <p:spPr>
          <a:xfrm>
            <a:off x="609600" y="727813"/>
            <a:ext cx="7924800" cy="615553"/>
          </a:xfrm>
        </p:spPr>
        <p:txBody>
          <a:bodyPr/>
          <a:lstStyle/>
          <a:p>
            <a:pPr algn="ctr"/>
            <a:r>
              <a:rPr lang="en-US" sz="4000" kern="0" dirty="0">
                <a:solidFill>
                  <a:sysClr val="windowText" lastClr="000000"/>
                </a:solidFill>
                <a:latin typeface="Century Gothic" panose="020B0502020202020204" pitchFamily="34" charset="0"/>
              </a:rPr>
              <a:t>1.INTRODUCTION</a:t>
            </a:r>
            <a:endParaRPr lang="en-US" sz="4000" dirty="0">
              <a:latin typeface="Century Gothic" panose="020B0502020202020204" pitchFamily="34" charset="0"/>
            </a:endParaRPr>
          </a:p>
        </p:txBody>
      </p:sp>
      <p:sp>
        <p:nvSpPr>
          <p:cNvPr id="4" name="TextBox 3">
            <a:extLst>
              <a:ext uri="{FF2B5EF4-FFF2-40B4-BE49-F238E27FC236}">
                <a16:creationId xmlns:a16="http://schemas.microsoft.com/office/drawing/2014/main" id="{DF0C8CC0-07F0-4F05-5CDB-5DC632A9FE70}"/>
              </a:ext>
            </a:extLst>
          </p:cNvPr>
          <p:cNvSpPr txBox="1"/>
          <p:nvPr/>
        </p:nvSpPr>
        <p:spPr>
          <a:xfrm>
            <a:off x="304800" y="1839267"/>
            <a:ext cx="2667000" cy="369332"/>
          </a:xfrm>
          <a:prstGeom prst="rect">
            <a:avLst/>
          </a:prstGeom>
          <a:noFill/>
        </p:spPr>
        <p:txBody>
          <a:bodyPr wrap="square">
            <a:spAutoFit/>
          </a:bodyPr>
          <a:lstStyle/>
          <a:p>
            <a:pPr lvl="1"/>
            <a:r>
              <a:rPr lang="en-US" sz="1800" b="1" kern="0" dirty="0">
                <a:solidFill>
                  <a:sysClr val="windowText" lastClr="000000"/>
                </a:solidFill>
                <a:latin typeface="Century Gothic" panose="020B0502020202020204" pitchFamily="34" charset="0"/>
              </a:rPr>
              <a:t>1.2 Objectives</a:t>
            </a:r>
          </a:p>
        </p:txBody>
      </p:sp>
      <p:sp>
        <p:nvSpPr>
          <p:cNvPr id="5" name="Rectangle 1">
            <a:extLst>
              <a:ext uri="{FF2B5EF4-FFF2-40B4-BE49-F238E27FC236}">
                <a16:creationId xmlns:a16="http://schemas.microsoft.com/office/drawing/2014/main" id="{DA87850F-1C9B-4D5F-453E-D91516E3E47B}"/>
              </a:ext>
            </a:extLst>
          </p:cNvPr>
          <p:cNvSpPr>
            <a:spLocks noChangeArrowheads="1"/>
          </p:cNvSpPr>
          <p:nvPr/>
        </p:nvSpPr>
        <p:spPr bwMode="auto">
          <a:xfrm rot="10800000" flipV="1">
            <a:off x="685800" y="2590800"/>
            <a:ext cx="7010400"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Develop an Intrusion Detection System (IDS) leveraging machine learning to detect and classify network attacks in real time.</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Trigger real-time email alerts upon detection of malicious activities, ensuring prompt notification and response to potential threats. </a:t>
            </a:r>
          </a:p>
        </p:txBody>
      </p:sp>
    </p:spTree>
    <p:extLst>
      <p:ext uri="{BB962C8B-B14F-4D97-AF65-F5344CB8AC3E}">
        <p14:creationId xmlns:p14="http://schemas.microsoft.com/office/powerpoint/2010/main" val="4312661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700E2D3-2508-6929-433E-F52F482070DA}"/>
              </a:ext>
            </a:extLst>
          </p:cNvPr>
          <p:cNvSpPr>
            <a:spLocks noGrp="1"/>
          </p:cNvSpPr>
          <p:nvPr>
            <p:ph type="title"/>
          </p:nvPr>
        </p:nvSpPr>
        <p:spPr>
          <a:xfrm>
            <a:off x="616226" y="838200"/>
            <a:ext cx="7924800" cy="615553"/>
          </a:xfrm>
        </p:spPr>
        <p:txBody>
          <a:bodyPr/>
          <a:lstStyle/>
          <a:p>
            <a:pPr algn="ctr"/>
            <a:r>
              <a:rPr lang="en-US" sz="4000" kern="0" dirty="0">
                <a:solidFill>
                  <a:sysClr val="windowText" lastClr="000000"/>
                </a:solidFill>
                <a:latin typeface="Century Gothic" panose="020B0502020202020204" pitchFamily="34" charset="0"/>
              </a:rPr>
              <a:t>1.INTRODUCTION</a:t>
            </a:r>
            <a:endParaRPr lang="en-US" sz="4000" dirty="0">
              <a:latin typeface="Century Gothic" panose="020B0502020202020204" pitchFamily="34" charset="0"/>
            </a:endParaRPr>
          </a:p>
        </p:txBody>
      </p:sp>
      <p:sp>
        <p:nvSpPr>
          <p:cNvPr id="3" name="TextBox 2">
            <a:extLst>
              <a:ext uri="{FF2B5EF4-FFF2-40B4-BE49-F238E27FC236}">
                <a16:creationId xmlns:a16="http://schemas.microsoft.com/office/drawing/2014/main" id="{F35C6C36-E1C9-E38A-6F12-CECD81AC813E}"/>
              </a:ext>
            </a:extLst>
          </p:cNvPr>
          <p:cNvSpPr txBox="1"/>
          <p:nvPr/>
        </p:nvSpPr>
        <p:spPr>
          <a:xfrm>
            <a:off x="6626" y="1524000"/>
            <a:ext cx="3346174" cy="369332"/>
          </a:xfrm>
          <a:prstGeom prst="rect">
            <a:avLst/>
          </a:prstGeom>
          <a:noFill/>
        </p:spPr>
        <p:txBody>
          <a:bodyPr wrap="square">
            <a:spAutoFit/>
          </a:bodyPr>
          <a:lstStyle/>
          <a:p>
            <a:pPr lvl="1"/>
            <a:r>
              <a:rPr lang="en-US" sz="1800" b="1" kern="0" dirty="0">
                <a:solidFill>
                  <a:sysClr val="windowText" lastClr="000000"/>
                </a:solidFill>
                <a:latin typeface="Century Gothic" panose="020B0502020202020204" pitchFamily="34" charset="0"/>
              </a:rPr>
              <a:t>1.3 Problem Statement</a:t>
            </a:r>
          </a:p>
        </p:txBody>
      </p:sp>
      <p:sp>
        <p:nvSpPr>
          <p:cNvPr id="5" name="TextBox 4">
            <a:extLst>
              <a:ext uri="{FF2B5EF4-FFF2-40B4-BE49-F238E27FC236}">
                <a16:creationId xmlns:a16="http://schemas.microsoft.com/office/drawing/2014/main" id="{010A14A4-0BD6-26C4-E7DA-499CC54AF4BC}"/>
              </a:ext>
            </a:extLst>
          </p:cNvPr>
          <p:cNvSpPr txBox="1"/>
          <p:nvPr/>
        </p:nvSpPr>
        <p:spPr>
          <a:xfrm>
            <a:off x="559904" y="2057400"/>
            <a:ext cx="7924800" cy="4359960"/>
          </a:xfrm>
          <a:prstGeom prst="rect">
            <a:avLst/>
          </a:prstGeom>
          <a:noFill/>
        </p:spPr>
        <p:txBody>
          <a:bodyPr wrap="square">
            <a:spAutoFit/>
          </a:bodyPr>
          <a:lstStyle/>
          <a:p>
            <a:pPr algn="just"/>
            <a:r>
              <a:rPr lang="en-US" dirty="0">
                <a:latin typeface="Century Gothic" panose="020B0502020202020204" pitchFamily="34" charset="0"/>
              </a:rPr>
              <a:t>Traditional Intrusion Detection Systems (IDS) often struggle to detect and respond to various cyber-attacks in real-time, leading to significant breaches and damage. These systems, which heavily rely on signature-based or rule-based methods, are insufficient for managing the diverse and evolving nature of network threats, especially when dealing with imbalanced datasets that hinder the accurate classification of different network intrusions (Abdallah, A. E.2023) </a:t>
            </a:r>
          </a:p>
          <a:p>
            <a:pPr algn="just"/>
            <a:r>
              <a:rPr lang="en-US" dirty="0">
                <a:latin typeface="Century Gothic" panose="020B0502020202020204" pitchFamily="34" charset="0"/>
              </a:rPr>
              <a:t>However, the studies using the NSL-KDD dataset commonly have some shortcomings, such as including outdated attack scenarios and being not useful for the real-world context of the modern network environment, and the performance of the models that are trained on this dataset is low. There are more recent and heterogeneous datasets like UNSW-NB15 that have a wider range of attack types and are closer to modern threats</a:t>
            </a:r>
          </a:p>
        </p:txBody>
      </p:sp>
    </p:spTree>
    <p:extLst>
      <p:ext uri="{BB962C8B-B14F-4D97-AF65-F5344CB8AC3E}">
        <p14:creationId xmlns:p14="http://schemas.microsoft.com/office/powerpoint/2010/main" val="28927899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700E2D3-2508-6929-433E-F52F482070DA}"/>
              </a:ext>
            </a:extLst>
          </p:cNvPr>
          <p:cNvSpPr>
            <a:spLocks noGrp="1"/>
          </p:cNvSpPr>
          <p:nvPr>
            <p:ph type="title"/>
          </p:nvPr>
        </p:nvSpPr>
        <p:spPr>
          <a:xfrm>
            <a:off x="457200" y="818525"/>
            <a:ext cx="7924800" cy="615553"/>
          </a:xfrm>
        </p:spPr>
        <p:txBody>
          <a:bodyPr/>
          <a:lstStyle/>
          <a:p>
            <a:pPr algn="ctr"/>
            <a:r>
              <a:rPr lang="en-US" sz="4000" dirty="0">
                <a:solidFill>
                  <a:schemeClr val="tx1"/>
                </a:solidFill>
                <a:latin typeface="Century Gothic" panose="020B0502020202020204" pitchFamily="34" charset="0"/>
              </a:rPr>
              <a:t>2.Literature Review</a:t>
            </a:r>
          </a:p>
        </p:txBody>
      </p:sp>
      <p:sp>
        <p:nvSpPr>
          <p:cNvPr id="4" name="TextBox 3">
            <a:extLst>
              <a:ext uri="{FF2B5EF4-FFF2-40B4-BE49-F238E27FC236}">
                <a16:creationId xmlns:a16="http://schemas.microsoft.com/office/drawing/2014/main" id="{32D23C08-312B-0449-6FC0-A743B9EF81CD}"/>
              </a:ext>
            </a:extLst>
          </p:cNvPr>
          <p:cNvSpPr txBox="1"/>
          <p:nvPr/>
        </p:nvSpPr>
        <p:spPr>
          <a:xfrm>
            <a:off x="36443" y="1600200"/>
            <a:ext cx="1905000" cy="369332"/>
          </a:xfrm>
          <a:prstGeom prst="rect">
            <a:avLst/>
          </a:prstGeom>
          <a:noFill/>
        </p:spPr>
        <p:txBody>
          <a:bodyPr wrap="square">
            <a:spAutoFit/>
          </a:bodyPr>
          <a:lstStyle/>
          <a:p>
            <a:r>
              <a:rPr lang="en-US" b="1" dirty="0"/>
              <a:t>Literature Review</a:t>
            </a:r>
          </a:p>
        </p:txBody>
      </p:sp>
      <p:sp>
        <p:nvSpPr>
          <p:cNvPr id="7" name="TextBox 6">
            <a:extLst>
              <a:ext uri="{FF2B5EF4-FFF2-40B4-BE49-F238E27FC236}">
                <a16:creationId xmlns:a16="http://schemas.microsoft.com/office/drawing/2014/main" id="{F9F15927-C220-2D4A-0109-316012410600}"/>
              </a:ext>
            </a:extLst>
          </p:cNvPr>
          <p:cNvSpPr txBox="1"/>
          <p:nvPr/>
        </p:nvSpPr>
        <p:spPr>
          <a:xfrm>
            <a:off x="457200" y="2301775"/>
            <a:ext cx="8001000" cy="2862322"/>
          </a:xfrm>
          <a:prstGeom prst="rect">
            <a:avLst/>
          </a:prstGeom>
          <a:noFill/>
        </p:spPr>
        <p:txBody>
          <a:bodyPr wrap="square">
            <a:spAutoFit/>
          </a:bodyPr>
          <a:lstStyle/>
          <a:p>
            <a:r>
              <a:rPr lang="en-US" sz="1800" b="0" i="0" u="none" strike="noStrike" dirty="0">
                <a:solidFill>
                  <a:srgbClr val="000000"/>
                </a:solidFill>
                <a:effectLst/>
                <a:latin typeface="Times New Roman" panose="02020603050405020304" pitchFamily="18" charset="0"/>
              </a:rPr>
              <a:t>Widodo and Aji introduced IDS and summed up papers regarding intrusion detection systems, and machine learning techniques in particular. They compared such models as Random Forest and Gradient Boosting and underlined their advantages connected with higher accuracy and higher speed of calculations. The study called for a realistic dataset to manage the emerging cybersecurity threats (Widodo &amp; Aji, 2021)​.</a:t>
            </a:r>
          </a:p>
          <a:p>
            <a:endParaRPr lang="en-US" sz="1800" b="0" i="0" u="none" strike="noStrike" dirty="0">
              <a:solidFill>
                <a:srgbClr val="000000"/>
              </a:solidFill>
              <a:effectLst/>
              <a:latin typeface="Times New Roman" panose="02020603050405020304" pitchFamily="18" charset="0"/>
            </a:endParaRPr>
          </a:p>
          <a:p>
            <a:r>
              <a:rPr lang="en-US" sz="1800" b="0" i="0" u="none" strike="noStrike" dirty="0">
                <a:solidFill>
                  <a:srgbClr val="000000"/>
                </a:solidFill>
                <a:effectLst/>
                <a:latin typeface="Times New Roman" panose="02020603050405020304" pitchFamily="18" charset="0"/>
              </a:rPr>
              <a:t>Ayeni et al investigated CNN based models in modern network environments for intrusion detection . They discovered that random imbalances in datasets can be mitigated while convolution layers are useful in developing high dimensional features (Ayeni, Dorado, Ponce, Wang, &amp; Ji, 2023)​.</a:t>
            </a:r>
            <a:endParaRPr lang="en-US" dirty="0"/>
          </a:p>
        </p:txBody>
      </p:sp>
    </p:spTree>
    <p:extLst>
      <p:ext uri="{BB962C8B-B14F-4D97-AF65-F5344CB8AC3E}">
        <p14:creationId xmlns:p14="http://schemas.microsoft.com/office/powerpoint/2010/main" val="6516899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8FDCFC57-62D7-4A95-7FE1-4C042F45CFF0}"/>
              </a:ext>
            </a:extLst>
          </p:cNvPr>
          <p:cNvSpPr txBox="1">
            <a:spLocks/>
          </p:cNvSpPr>
          <p:nvPr/>
        </p:nvSpPr>
        <p:spPr>
          <a:xfrm>
            <a:off x="269735" y="1314451"/>
            <a:ext cx="2854465" cy="361950"/>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b="1" dirty="0">
                <a:latin typeface="Century Gothic" panose="020B0502020202020204" pitchFamily="34" charset="0"/>
              </a:rPr>
              <a:t>3.1 System Architecture </a:t>
            </a:r>
            <a:endParaRPr lang="en-US" b="1" kern="0" dirty="0">
              <a:solidFill>
                <a:sysClr val="windowText" lastClr="000000"/>
              </a:solidFill>
              <a:latin typeface="Century Gothic" panose="020B0502020202020204" pitchFamily="34" charset="0"/>
            </a:endParaRPr>
          </a:p>
        </p:txBody>
      </p:sp>
      <p:sp>
        <p:nvSpPr>
          <p:cNvPr id="6" name="Title 5">
            <a:extLst>
              <a:ext uri="{FF2B5EF4-FFF2-40B4-BE49-F238E27FC236}">
                <a16:creationId xmlns:a16="http://schemas.microsoft.com/office/drawing/2014/main" id="{4700E2D3-2508-6929-433E-F52F482070DA}"/>
              </a:ext>
            </a:extLst>
          </p:cNvPr>
          <p:cNvSpPr>
            <a:spLocks noGrp="1"/>
          </p:cNvSpPr>
          <p:nvPr>
            <p:ph type="title"/>
          </p:nvPr>
        </p:nvSpPr>
        <p:spPr>
          <a:xfrm>
            <a:off x="609600" y="304800"/>
            <a:ext cx="7924800" cy="615553"/>
          </a:xfrm>
        </p:spPr>
        <p:txBody>
          <a:bodyPr/>
          <a:lstStyle/>
          <a:p>
            <a:pPr algn="ctr"/>
            <a:r>
              <a:rPr lang="en-US" sz="4000" kern="0" dirty="0">
                <a:solidFill>
                  <a:sysClr val="windowText" lastClr="000000"/>
                </a:solidFill>
                <a:latin typeface="Century Gothic" panose="020B0502020202020204" pitchFamily="34" charset="0"/>
              </a:rPr>
              <a:t>3.Methodology</a:t>
            </a:r>
            <a:endParaRPr lang="en-US" sz="4000" dirty="0">
              <a:latin typeface="Century Gothic" panose="020B0502020202020204" pitchFamily="34" charset="0"/>
            </a:endParaRPr>
          </a:p>
        </p:txBody>
      </p:sp>
      <p:pic>
        <p:nvPicPr>
          <p:cNvPr id="3" name="Picture 2">
            <a:extLst>
              <a:ext uri="{FF2B5EF4-FFF2-40B4-BE49-F238E27FC236}">
                <a16:creationId xmlns:a16="http://schemas.microsoft.com/office/drawing/2014/main" id="{98C15BA2-9909-6846-5313-25DE6366DDE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9735" y="1969399"/>
            <a:ext cx="3105150" cy="4610100"/>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2">
            <a:extLst>
              <a:ext uri="{FF2B5EF4-FFF2-40B4-BE49-F238E27FC236}">
                <a16:creationId xmlns:a16="http://schemas.microsoft.com/office/drawing/2014/main" id="{DEDA5B2E-2FB4-4479-25CB-31D846332AED}"/>
              </a:ext>
            </a:extLst>
          </p:cNvPr>
          <p:cNvSpPr txBox="1">
            <a:spLocks/>
          </p:cNvSpPr>
          <p:nvPr/>
        </p:nvSpPr>
        <p:spPr>
          <a:xfrm>
            <a:off x="3886200" y="1314452"/>
            <a:ext cx="4876800" cy="4610100"/>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b="1" dirty="0">
                <a:latin typeface="Century Gothic" panose="020B0502020202020204" pitchFamily="34" charset="0"/>
              </a:rPr>
              <a:t>Two Primary Phases:</a:t>
            </a:r>
            <a:endParaRPr lang="en-US" dirty="0">
              <a:latin typeface="Century Gothic" panose="020B0502020202020204" pitchFamily="34" charset="0"/>
            </a:endParaRPr>
          </a:p>
          <a:p>
            <a:pPr marL="742950" lvl="1" indent="-285750" algn="just">
              <a:buFont typeface="Arial" panose="020B0604020202020204" pitchFamily="34" charset="0"/>
              <a:buChar char="•"/>
            </a:pPr>
            <a:r>
              <a:rPr lang="en-US" b="1" dirty="0">
                <a:latin typeface="Century Gothic" panose="020B0502020202020204" pitchFamily="34" charset="0"/>
              </a:rPr>
              <a:t>Offline Training Phase:</a:t>
            </a:r>
            <a:endParaRPr lang="en-US" dirty="0">
              <a:latin typeface="Century Gothic" panose="020B0502020202020204" pitchFamily="34" charset="0"/>
            </a:endParaRPr>
          </a:p>
          <a:p>
            <a:pPr marL="1143000" lvl="2" indent="-228600" algn="just">
              <a:buFont typeface="Arial" panose="020B0604020202020204" pitchFamily="34" charset="0"/>
              <a:buChar char="•"/>
            </a:pPr>
            <a:r>
              <a:rPr lang="en-US" dirty="0">
                <a:latin typeface="Century Gothic" panose="020B0502020202020204" pitchFamily="34" charset="0"/>
              </a:rPr>
              <a:t>UNSW-NB15 dataset processed for feature cleaning, encoding, and scaling.</a:t>
            </a:r>
          </a:p>
          <a:p>
            <a:pPr marL="1143000" lvl="2" indent="-228600" algn="just">
              <a:buFont typeface="Arial" panose="020B0604020202020204" pitchFamily="34" charset="0"/>
              <a:buChar char="•"/>
            </a:pPr>
            <a:r>
              <a:rPr lang="en-US" dirty="0">
                <a:latin typeface="Century Gothic" panose="020B0502020202020204" pitchFamily="34" charset="0"/>
              </a:rPr>
              <a:t>Trained ML model and preprocessing tools (encoders/scalers) are stored.</a:t>
            </a:r>
          </a:p>
          <a:p>
            <a:pPr marL="742950" lvl="1" indent="-285750" algn="just">
              <a:buFont typeface="Arial" panose="020B0604020202020204" pitchFamily="34" charset="0"/>
              <a:buChar char="•"/>
            </a:pPr>
            <a:r>
              <a:rPr lang="en-US" b="1" dirty="0">
                <a:latin typeface="Century Gothic" panose="020B0502020202020204" pitchFamily="34" charset="0"/>
              </a:rPr>
              <a:t>Real-Time Detection Phase:</a:t>
            </a:r>
            <a:endParaRPr lang="en-US" dirty="0">
              <a:latin typeface="Century Gothic" panose="020B0502020202020204" pitchFamily="34" charset="0"/>
            </a:endParaRPr>
          </a:p>
          <a:p>
            <a:pPr marL="1143000" lvl="2" indent="-228600" algn="just">
              <a:buFont typeface="Arial" panose="020B0604020202020204" pitchFamily="34" charset="0"/>
              <a:buChar char="•"/>
            </a:pPr>
            <a:r>
              <a:rPr lang="en-US" dirty="0">
                <a:latin typeface="Century Gothic" panose="020B0502020202020204" pitchFamily="34" charset="0"/>
              </a:rPr>
              <a:t>Live traffic captured using a packet-sniffing module.</a:t>
            </a:r>
          </a:p>
          <a:p>
            <a:pPr marL="1143000" lvl="2" indent="-228600" algn="just">
              <a:buFont typeface="Arial" panose="020B0604020202020204" pitchFamily="34" charset="0"/>
              <a:buChar char="•"/>
            </a:pPr>
            <a:r>
              <a:rPr lang="en-US" dirty="0">
                <a:latin typeface="Century Gothic" panose="020B0502020202020204" pitchFamily="34" charset="0"/>
              </a:rPr>
              <a:t>Real-time preprocessing applies saved transformations.</a:t>
            </a:r>
          </a:p>
          <a:p>
            <a:pPr marL="1143000" lvl="2" indent="-228600" algn="just">
              <a:buFont typeface="Arial" panose="020B0604020202020204" pitchFamily="34" charset="0"/>
              <a:buChar char="•"/>
            </a:pPr>
            <a:r>
              <a:rPr lang="en-US" dirty="0">
                <a:latin typeface="Century Gothic" panose="020B0502020202020204" pitchFamily="34" charset="0"/>
              </a:rPr>
              <a:t>ML model classifies traffic as normal or malicious.</a:t>
            </a:r>
          </a:p>
          <a:p>
            <a:pPr marL="1143000" lvl="2" indent="-228600" algn="just">
              <a:buFont typeface="Arial" panose="020B0604020202020204" pitchFamily="34" charset="0"/>
              <a:buChar char="•"/>
            </a:pPr>
            <a:r>
              <a:rPr lang="en-US" dirty="0">
                <a:latin typeface="Century Gothic" panose="020B0502020202020204" pitchFamily="34" charset="0"/>
              </a:rPr>
              <a:t>Alert system sends email notifications for malicious traffic.</a:t>
            </a:r>
          </a:p>
          <a:p>
            <a:endParaRPr lang="en-US" sz="2400" kern="0" dirty="0">
              <a:solidFill>
                <a:sysClr val="windowText" lastClr="000000"/>
              </a:solidFill>
              <a:latin typeface="Century Gothic" panose="020B0502020202020204" pitchFamily="34" charset="0"/>
            </a:endParaRPr>
          </a:p>
        </p:txBody>
      </p:sp>
    </p:spTree>
    <p:extLst>
      <p:ext uri="{BB962C8B-B14F-4D97-AF65-F5344CB8AC3E}">
        <p14:creationId xmlns:p14="http://schemas.microsoft.com/office/powerpoint/2010/main" val="32906889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8FDCFC57-62D7-4A95-7FE1-4C042F45CFF0}"/>
              </a:ext>
            </a:extLst>
          </p:cNvPr>
          <p:cNvSpPr txBox="1">
            <a:spLocks/>
          </p:cNvSpPr>
          <p:nvPr/>
        </p:nvSpPr>
        <p:spPr>
          <a:xfrm>
            <a:off x="533400" y="1676400"/>
            <a:ext cx="2854465" cy="295688"/>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b="1" dirty="0">
                <a:latin typeface="Century Gothic" panose="020B0502020202020204" pitchFamily="34" charset="0"/>
              </a:rPr>
              <a:t>3.2 Use Case Diagram </a:t>
            </a:r>
            <a:endParaRPr lang="en-US" b="1" kern="0" dirty="0">
              <a:solidFill>
                <a:sysClr val="windowText" lastClr="000000"/>
              </a:solidFill>
              <a:latin typeface="Century Gothic" panose="020B0502020202020204" pitchFamily="34" charset="0"/>
            </a:endParaRPr>
          </a:p>
        </p:txBody>
      </p:sp>
      <p:sp>
        <p:nvSpPr>
          <p:cNvPr id="6" name="Title 5">
            <a:extLst>
              <a:ext uri="{FF2B5EF4-FFF2-40B4-BE49-F238E27FC236}">
                <a16:creationId xmlns:a16="http://schemas.microsoft.com/office/drawing/2014/main" id="{4700E2D3-2508-6929-433E-F52F482070DA}"/>
              </a:ext>
            </a:extLst>
          </p:cNvPr>
          <p:cNvSpPr>
            <a:spLocks noGrp="1"/>
          </p:cNvSpPr>
          <p:nvPr>
            <p:ph type="title"/>
          </p:nvPr>
        </p:nvSpPr>
        <p:spPr>
          <a:xfrm>
            <a:off x="-29817" y="664604"/>
            <a:ext cx="7924800" cy="615553"/>
          </a:xfrm>
        </p:spPr>
        <p:txBody>
          <a:bodyPr/>
          <a:lstStyle/>
          <a:p>
            <a:pPr algn="ctr"/>
            <a:r>
              <a:rPr lang="en-US" sz="4000" kern="0" dirty="0">
                <a:solidFill>
                  <a:sysClr val="windowText" lastClr="000000"/>
                </a:solidFill>
                <a:latin typeface="Century Gothic" panose="020B0502020202020204" pitchFamily="34" charset="0"/>
              </a:rPr>
              <a:t>3.Methodology</a:t>
            </a:r>
            <a:endParaRPr lang="en-US" sz="4000" dirty="0">
              <a:latin typeface="Century Gothic" panose="020B0502020202020204" pitchFamily="34" charset="0"/>
            </a:endParaRPr>
          </a:p>
        </p:txBody>
      </p:sp>
      <p:pic>
        <p:nvPicPr>
          <p:cNvPr id="2052" name="Picture 4">
            <a:extLst>
              <a:ext uri="{FF2B5EF4-FFF2-40B4-BE49-F238E27FC236}">
                <a16:creationId xmlns:a16="http://schemas.microsoft.com/office/drawing/2014/main" id="{9F5B52BA-551E-7D8A-4550-6A2E560736A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87865" y="1280157"/>
            <a:ext cx="4126118" cy="49694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55686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8FDCFC57-62D7-4A95-7FE1-4C042F45CFF0}"/>
              </a:ext>
            </a:extLst>
          </p:cNvPr>
          <p:cNvSpPr txBox="1">
            <a:spLocks/>
          </p:cNvSpPr>
          <p:nvPr/>
        </p:nvSpPr>
        <p:spPr>
          <a:xfrm>
            <a:off x="269735" y="1314451"/>
            <a:ext cx="2854465" cy="361950"/>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b="1" dirty="0">
                <a:latin typeface="Century Gothic" panose="020B0502020202020204" pitchFamily="34" charset="0"/>
              </a:rPr>
              <a:t>3.3 Activity Diagram</a:t>
            </a:r>
            <a:endParaRPr lang="en-US" dirty="0">
              <a:latin typeface="Century Gothic" panose="020B0502020202020204" pitchFamily="34" charset="0"/>
            </a:endParaRPr>
          </a:p>
          <a:p>
            <a:endParaRPr lang="en-US" b="1" kern="0" dirty="0">
              <a:solidFill>
                <a:sysClr val="windowText" lastClr="000000"/>
              </a:solidFill>
              <a:latin typeface="Century Gothic" panose="020B0502020202020204" pitchFamily="34" charset="0"/>
            </a:endParaRPr>
          </a:p>
        </p:txBody>
      </p:sp>
      <p:sp>
        <p:nvSpPr>
          <p:cNvPr id="6" name="Title 5">
            <a:extLst>
              <a:ext uri="{FF2B5EF4-FFF2-40B4-BE49-F238E27FC236}">
                <a16:creationId xmlns:a16="http://schemas.microsoft.com/office/drawing/2014/main" id="{4700E2D3-2508-6929-433E-F52F482070DA}"/>
              </a:ext>
            </a:extLst>
          </p:cNvPr>
          <p:cNvSpPr>
            <a:spLocks noGrp="1"/>
          </p:cNvSpPr>
          <p:nvPr>
            <p:ph type="title"/>
          </p:nvPr>
        </p:nvSpPr>
        <p:spPr>
          <a:xfrm>
            <a:off x="609600" y="304800"/>
            <a:ext cx="7924800" cy="615553"/>
          </a:xfrm>
        </p:spPr>
        <p:txBody>
          <a:bodyPr/>
          <a:lstStyle/>
          <a:p>
            <a:pPr algn="ctr"/>
            <a:r>
              <a:rPr lang="en-US" sz="4000" kern="0" dirty="0">
                <a:solidFill>
                  <a:sysClr val="windowText" lastClr="000000"/>
                </a:solidFill>
                <a:latin typeface="Century Gothic" panose="020B0502020202020204" pitchFamily="34" charset="0"/>
              </a:rPr>
              <a:t>3.Methodology</a:t>
            </a:r>
            <a:endParaRPr lang="en-US" sz="4000" dirty="0">
              <a:latin typeface="Century Gothic" panose="020B0502020202020204" pitchFamily="34" charset="0"/>
            </a:endParaRPr>
          </a:p>
        </p:txBody>
      </p:sp>
      <p:pic>
        <p:nvPicPr>
          <p:cNvPr id="3074" name="Picture 2">
            <a:extLst>
              <a:ext uri="{FF2B5EF4-FFF2-40B4-BE49-F238E27FC236}">
                <a16:creationId xmlns:a16="http://schemas.microsoft.com/office/drawing/2014/main" id="{658FB2F5-D427-C840-606F-ECFA132EE7A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5800" y="1905000"/>
            <a:ext cx="3952875" cy="3400425"/>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0">
            <a:extLst>
              <a:ext uri="{FF2B5EF4-FFF2-40B4-BE49-F238E27FC236}">
                <a16:creationId xmlns:a16="http://schemas.microsoft.com/office/drawing/2014/main" id="{C57CABA7-0F65-CD47-7B82-317FECFAC67D}"/>
              </a:ext>
            </a:extLst>
          </p:cNvPr>
          <p:cNvSpPr>
            <a:spLocks noChangeArrowheads="1"/>
          </p:cNvSpPr>
          <p:nvPr/>
        </p:nvSpPr>
        <p:spPr bwMode="auto">
          <a:xfrm>
            <a:off x="4724400" y="1432411"/>
            <a:ext cx="3952875" cy="3447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Century Gothic" panose="020B0502020202020204" pitchFamily="34" charset="0"/>
              </a:rPr>
              <a:t>Process:</a:t>
            </a:r>
            <a:endParaRPr kumimoji="0" lang="en-US" altLang="en-US" sz="2000" b="0" i="0" u="none" strike="noStrike" cap="none" normalizeH="0" baseline="0" dirty="0">
              <a:ln>
                <a:noFill/>
              </a:ln>
              <a:solidFill>
                <a:schemeClr val="tx1"/>
              </a:solidFill>
              <a:effectLst/>
              <a:latin typeface="Century Gothic" panose="020B0502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Century Gothic" panose="020B0502020202020204" pitchFamily="34" charset="0"/>
              </a:rPr>
              <a:t>Capture live network traffic.</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Century Gothic" panose="020B0502020202020204" pitchFamily="34" charset="0"/>
              </a:rPr>
              <a:t>Extract features and preprocess data.</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Century Gothic" panose="020B0502020202020204" pitchFamily="34" charset="0"/>
              </a:rPr>
              <a:t>Classify traffic using ML model.</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Century Gothic" panose="020B0502020202020204" pitchFamily="34" charset="0"/>
              </a:rPr>
              <a:t>If malicious, trigger alert system and notify administrator.</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Century Gothic" panose="020B0502020202020204" pitchFamily="34" charset="0"/>
              </a:rPr>
              <a:t>If normal, log traffic for future reference.</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Century Gothic" panose="020B0502020202020204" pitchFamily="34" charset="0"/>
              </a:rPr>
              <a:t>If no traffic is captured, system waits for incoming data.</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Century Gothic" panose="020B0502020202020204" pitchFamily="34" charset="0"/>
            </a:endParaRPr>
          </a:p>
        </p:txBody>
      </p:sp>
    </p:spTree>
    <p:extLst>
      <p:ext uri="{BB962C8B-B14F-4D97-AF65-F5344CB8AC3E}">
        <p14:creationId xmlns:p14="http://schemas.microsoft.com/office/powerpoint/2010/main" val="11675475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8FDCFC57-62D7-4A95-7FE1-4C042F45CFF0}"/>
              </a:ext>
            </a:extLst>
          </p:cNvPr>
          <p:cNvSpPr txBox="1">
            <a:spLocks/>
          </p:cNvSpPr>
          <p:nvPr/>
        </p:nvSpPr>
        <p:spPr>
          <a:xfrm>
            <a:off x="269735" y="1314451"/>
            <a:ext cx="2473465" cy="361950"/>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lang="en-US" sz="2400" kern="0" dirty="0">
              <a:solidFill>
                <a:sysClr val="windowText" lastClr="000000"/>
              </a:solidFill>
              <a:latin typeface="Century Gothic" panose="020B0502020202020204" pitchFamily="34" charset="0"/>
            </a:endParaRPr>
          </a:p>
        </p:txBody>
      </p:sp>
      <p:sp>
        <p:nvSpPr>
          <p:cNvPr id="6" name="Title 5">
            <a:extLst>
              <a:ext uri="{FF2B5EF4-FFF2-40B4-BE49-F238E27FC236}">
                <a16:creationId xmlns:a16="http://schemas.microsoft.com/office/drawing/2014/main" id="{4700E2D3-2508-6929-433E-F52F482070DA}"/>
              </a:ext>
            </a:extLst>
          </p:cNvPr>
          <p:cNvSpPr>
            <a:spLocks noGrp="1"/>
          </p:cNvSpPr>
          <p:nvPr>
            <p:ph type="title"/>
          </p:nvPr>
        </p:nvSpPr>
        <p:spPr>
          <a:xfrm>
            <a:off x="296239" y="663775"/>
            <a:ext cx="7924800" cy="615553"/>
          </a:xfrm>
        </p:spPr>
        <p:txBody>
          <a:bodyPr/>
          <a:lstStyle/>
          <a:p>
            <a:pPr algn="ctr"/>
            <a:r>
              <a:rPr lang="en-US" sz="1800" b="1" i="0" u="none" strike="noStrike" dirty="0">
                <a:solidFill>
                  <a:srgbClr val="000000"/>
                </a:solidFill>
                <a:effectLst/>
                <a:latin typeface="Times New Roman" panose="02020603050405020304" pitchFamily="18" charset="0"/>
              </a:rPr>
              <a:t> </a:t>
            </a:r>
            <a:r>
              <a:rPr lang="en-US" sz="4000" b="1" i="0" u="none" strike="noStrike" dirty="0">
                <a:solidFill>
                  <a:srgbClr val="000000"/>
                </a:solidFill>
                <a:effectLst/>
                <a:latin typeface="Times New Roman" panose="02020603050405020304" pitchFamily="18" charset="0"/>
              </a:rPr>
              <a:t>4.Implementation</a:t>
            </a:r>
            <a:endParaRPr lang="en-US" sz="4000" dirty="0">
              <a:latin typeface="Century Gothic" panose="020B0502020202020204" pitchFamily="34" charset="0"/>
            </a:endParaRPr>
          </a:p>
        </p:txBody>
      </p:sp>
      <p:pic>
        <p:nvPicPr>
          <p:cNvPr id="4098" name="Picture 2">
            <a:extLst>
              <a:ext uri="{FF2B5EF4-FFF2-40B4-BE49-F238E27FC236}">
                <a16:creationId xmlns:a16="http://schemas.microsoft.com/office/drawing/2014/main" id="{663876AE-3277-C14B-3EB2-3400C6D8C17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9796" y="3048000"/>
            <a:ext cx="4911865" cy="160972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8960E21-B093-D1F1-142F-955D5C559FC8}"/>
              </a:ext>
            </a:extLst>
          </p:cNvPr>
          <p:cNvSpPr txBox="1"/>
          <p:nvPr/>
        </p:nvSpPr>
        <p:spPr>
          <a:xfrm>
            <a:off x="429728" y="1526858"/>
            <a:ext cx="4572000" cy="369332"/>
          </a:xfrm>
          <a:prstGeom prst="rect">
            <a:avLst/>
          </a:prstGeom>
          <a:noFill/>
        </p:spPr>
        <p:txBody>
          <a:bodyPr wrap="square">
            <a:spAutoFit/>
          </a:bodyPr>
          <a:lstStyle/>
          <a:p>
            <a:r>
              <a:rPr lang="en-US" sz="1800" b="1" i="0" u="none" strike="noStrike" dirty="0">
                <a:solidFill>
                  <a:srgbClr val="000000"/>
                </a:solidFill>
                <a:effectLst/>
                <a:latin typeface="Times New Roman" panose="02020603050405020304" pitchFamily="18" charset="0"/>
              </a:rPr>
              <a:t> 4.1 Capture traffic work flow </a:t>
            </a:r>
            <a:endParaRPr lang="en-US" dirty="0"/>
          </a:p>
        </p:txBody>
      </p:sp>
      <p:sp>
        <p:nvSpPr>
          <p:cNvPr id="9" name="Rectangle 4">
            <a:extLst>
              <a:ext uri="{FF2B5EF4-FFF2-40B4-BE49-F238E27FC236}">
                <a16:creationId xmlns:a16="http://schemas.microsoft.com/office/drawing/2014/main" id="{CCB8FFD2-2D17-40A4-9850-4543F04FA497}"/>
              </a:ext>
            </a:extLst>
          </p:cNvPr>
          <p:cNvSpPr>
            <a:spLocks noChangeArrowheads="1"/>
          </p:cNvSpPr>
          <p:nvPr/>
        </p:nvSpPr>
        <p:spPr bwMode="auto">
          <a:xfrm>
            <a:off x="5181600" y="1467492"/>
            <a:ext cx="3886199" cy="51090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AutoNum type="arabicPeriod"/>
              <a:tabLst/>
            </a:pPr>
            <a:r>
              <a:rPr kumimoji="0" lang="en-US" altLang="en-US" sz="1400" b="1" i="0" u="none" strike="noStrike" cap="none" normalizeH="0" baseline="0" dirty="0">
                <a:ln>
                  <a:noFill/>
                </a:ln>
                <a:solidFill>
                  <a:schemeClr val="tx1"/>
                </a:solidFill>
                <a:effectLst/>
                <a:latin typeface="Century Gothic" panose="020B0502020202020204" pitchFamily="34" charset="0"/>
              </a:rPr>
              <a:t>User Interaction:</a:t>
            </a:r>
            <a:endParaRPr lang="en-US" altLang="en-US" sz="1400" dirty="0">
              <a:latin typeface="Century Gothic" panose="020B0502020202020204" pitchFamily="34" charset="0"/>
            </a:endParaRPr>
          </a:p>
          <a:p>
            <a:pPr lvl="1" algn="just" eaLnBrk="0" fontAlgn="base" hangingPunct="0">
              <a:spcBef>
                <a:spcPct val="0"/>
              </a:spcBef>
              <a:spcAft>
                <a:spcPct val="0"/>
              </a:spcAft>
            </a:pPr>
            <a:r>
              <a:rPr kumimoji="0" lang="en-US" altLang="en-US" sz="1400" b="0" i="0" u="none" strike="noStrike" cap="none" normalizeH="0" baseline="0" dirty="0">
                <a:ln>
                  <a:noFill/>
                </a:ln>
                <a:solidFill>
                  <a:schemeClr val="tx1"/>
                </a:solidFill>
                <a:effectLst/>
                <a:latin typeface="Century Gothic" panose="020B0502020202020204" pitchFamily="34" charset="0"/>
              </a:rPr>
              <a:t>User selects the network interface to monitor.</a:t>
            </a:r>
          </a:p>
          <a:p>
            <a:pPr marL="0" marR="0" lvl="0" indent="0" algn="just" defTabSz="914400" rtl="0" eaLnBrk="0" fontAlgn="base" latinLnBrk="0" hangingPunct="0">
              <a:lnSpc>
                <a:spcPct val="100000"/>
              </a:lnSpc>
              <a:spcBef>
                <a:spcPct val="0"/>
              </a:spcBef>
              <a:spcAft>
                <a:spcPct val="0"/>
              </a:spcAft>
              <a:buClrTx/>
              <a:buSzTx/>
              <a:buFontTx/>
              <a:buAutoNum type="arabicPeriod" startAt="2"/>
              <a:tabLst/>
            </a:pPr>
            <a:r>
              <a:rPr kumimoji="0" lang="en-US" altLang="en-US" sz="1400" b="1" i="0" u="none" strike="noStrike" cap="none" normalizeH="0" baseline="0" dirty="0">
                <a:ln>
                  <a:noFill/>
                </a:ln>
                <a:solidFill>
                  <a:schemeClr val="tx1"/>
                </a:solidFill>
                <a:effectLst/>
                <a:latin typeface="Century Gothic" panose="020B0502020202020204" pitchFamily="34" charset="0"/>
              </a:rPr>
              <a:t>Network Interface:</a:t>
            </a:r>
            <a:endParaRPr lang="en-US" altLang="en-US" sz="1400" dirty="0">
              <a:latin typeface="Century Gothic" panose="020B0502020202020204" pitchFamily="34" charset="0"/>
            </a:endParaRPr>
          </a:p>
          <a:p>
            <a:pPr lvl="1" algn="just" eaLnBrk="0" fontAlgn="base" hangingPunct="0">
              <a:spcBef>
                <a:spcPct val="0"/>
              </a:spcBef>
              <a:spcAft>
                <a:spcPct val="0"/>
              </a:spcAft>
            </a:pPr>
            <a:r>
              <a:rPr kumimoji="0" lang="en-US" altLang="en-US" sz="1400" b="0" i="0" u="none" strike="noStrike" cap="none" normalizeH="0" baseline="0" dirty="0">
                <a:ln>
                  <a:noFill/>
                </a:ln>
                <a:solidFill>
                  <a:schemeClr val="tx1"/>
                </a:solidFill>
                <a:effectLst/>
                <a:latin typeface="Century Gothic" panose="020B0502020202020204" pitchFamily="34" charset="0"/>
              </a:rPr>
              <a:t>Captures incoming and outgoing traffic on the selected interface.</a:t>
            </a:r>
          </a:p>
          <a:p>
            <a:pPr marL="0" marR="0" lvl="0" indent="0" algn="just" defTabSz="914400" rtl="0" eaLnBrk="0" fontAlgn="base" latinLnBrk="0" hangingPunct="0">
              <a:lnSpc>
                <a:spcPct val="100000"/>
              </a:lnSpc>
              <a:spcBef>
                <a:spcPct val="0"/>
              </a:spcBef>
              <a:spcAft>
                <a:spcPct val="0"/>
              </a:spcAft>
              <a:buClrTx/>
              <a:buSzTx/>
              <a:buFontTx/>
              <a:buAutoNum type="arabicPeriod" startAt="3"/>
              <a:tabLst/>
            </a:pPr>
            <a:r>
              <a:rPr kumimoji="0" lang="en-US" altLang="en-US" sz="1400" b="1" i="0" u="none" strike="noStrike" cap="none" normalizeH="0" baseline="0" dirty="0">
                <a:ln>
                  <a:noFill/>
                </a:ln>
                <a:solidFill>
                  <a:schemeClr val="tx1"/>
                </a:solidFill>
                <a:effectLst/>
                <a:latin typeface="Century Gothic" panose="020B0502020202020204" pitchFamily="34" charset="0"/>
              </a:rPr>
              <a:t>Packet Capture:</a:t>
            </a:r>
            <a:endParaRPr lang="en-US" altLang="en-US" sz="1400" dirty="0">
              <a:latin typeface="Century Gothic" panose="020B0502020202020204" pitchFamily="34" charset="0"/>
            </a:endParaRPr>
          </a:p>
          <a:p>
            <a:pPr lvl="1" algn="just" eaLnBrk="0" fontAlgn="base" hangingPunct="0">
              <a:spcBef>
                <a:spcPct val="0"/>
              </a:spcBef>
              <a:spcAft>
                <a:spcPct val="0"/>
              </a:spcAft>
            </a:pPr>
            <a:r>
              <a:rPr kumimoji="0" lang="en-US" altLang="en-US" sz="1400" b="0" i="0" u="none" strike="noStrike" cap="none" normalizeH="0" baseline="0" dirty="0">
                <a:ln>
                  <a:noFill/>
                </a:ln>
                <a:solidFill>
                  <a:schemeClr val="tx1"/>
                </a:solidFill>
                <a:effectLst/>
                <a:latin typeface="Century Gothic" panose="020B0502020202020204" pitchFamily="34" charset="0"/>
              </a:rPr>
              <a:t>Tools like </a:t>
            </a:r>
            <a:r>
              <a:rPr kumimoji="0" lang="en-US" altLang="en-US" sz="1400" b="0" i="0" u="none" strike="noStrike" cap="none" normalizeH="0" baseline="0" dirty="0" err="1">
                <a:ln>
                  <a:noFill/>
                </a:ln>
                <a:solidFill>
                  <a:schemeClr val="tx1"/>
                </a:solidFill>
                <a:effectLst/>
                <a:latin typeface="Century Gothic" panose="020B0502020202020204" pitchFamily="34" charset="0"/>
              </a:rPr>
              <a:t>Scapy</a:t>
            </a:r>
            <a:r>
              <a:rPr kumimoji="0" lang="en-US" altLang="en-US" sz="1400" b="0" i="0" u="none" strike="noStrike" cap="none" normalizeH="0" baseline="0" dirty="0">
                <a:ln>
                  <a:noFill/>
                </a:ln>
                <a:solidFill>
                  <a:schemeClr val="tx1"/>
                </a:solidFill>
                <a:effectLst/>
                <a:latin typeface="Century Gothic" panose="020B0502020202020204" pitchFamily="34" charset="0"/>
              </a:rPr>
              <a:t> capture live packets in real-time.</a:t>
            </a:r>
          </a:p>
          <a:p>
            <a:pPr marL="0" marR="0" lvl="0" indent="0" algn="just" defTabSz="914400" rtl="0" eaLnBrk="0" fontAlgn="base" latinLnBrk="0" hangingPunct="0">
              <a:lnSpc>
                <a:spcPct val="100000"/>
              </a:lnSpc>
              <a:spcBef>
                <a:spcPct val="0"/>
              </a:spcBef>
              <a:spcAft>
                <a:spcPct val="0"/>
              </a:spcAft>
              <a:buClrTx/>
              <a:buSzTx/>
              <a:buFontTx/>
              <a:buAutoNum type="arabicPeriod" startAt="4"/>
              <a:tabLst/>
            </a:pPr>
            <a:r>
              <a:rPr kumimoji="0" lang="en-US" altLang="en-US" sz="1400" b="1" i="0" u="none" strike="noStrike" cap="none" normalizeH="0" baseline="0" dirty="0">
                <a:ln>
                  <a:noFill/>
                </a:ln>
                <a:solidFill>
                  <a:schemeClr val="tx1"/>
                </a:solidFill>
                <a:effectLst/>
                <a:latin typeface="Century Gothic" panose="020B0502020202020204" pitchFamily="34" charset="0"/>
              </a:rPr>
              <a:t>Protocol and Service Detection:</a:t>
            </a:r>
            <a:endParaRPr lang="en-US" altLang="en-US" sz="1400" dirty="0">
              <a:latin typeface="Century Gothic" panose="020B0502020202020204" pitchFamily="34" charset="0"/>
            </a:endParaRPr>
          </a:p>
          <a:p>
            <a:pPr lvl="1" algn="just" eaLnBrk="0" fontAlgn="base" hangingPunct="0">
              <a:spcBef>
                <a:spcPct val="0"/>
              </a:spcBef>
              <a:spcAft>
                <a:spcPct val="0"/>
              </a:spcAft>
            </a:pPr>
            <a:r>
              <a:rPr kumimoji="0" lang="en-US" altLang="en-US" sz="1400" b="0" i="0" u="none" strike="noStrike" cap="none" normalizeH="0" baseline="0" dirty="0">
                <a:ln>
                  <a:noFill/>
                </a:ln>
                <a:solidFill>
                  <a:schemeClr val="tx1"/>
                </a:solidFill>
                <a:effectLst/>
                <a:latin typeface="Century Gothic" panose="020B0502020202020204" pitchFamily="34" charset="0"/>
              </a:rPr>
              <a:t>Identifies protocols (e.g., TCP, UDP) and services (e.g., HTTP).</a:t>
            </a:r>
          </a:p>
          <a:p>
            <a:pPr marL="0" marR="0" lvl="0" indent="0" algn="just" defTabSz="914400" rtl="0" eaLnBrk="0" fontAlgn="base" latinLnBrk="0" hangingPunct="0">
              <a:lnSpc>
                <a:spcPct val="100000"/>
              </a:lnSpc>
              <a:spcBef>
                <a:spcPct val="0"/>
              </a:spcBef>
              <a:spcAft>
                <a:spcPct val="0"/>
              </a:spcAft>
              <a:buClrTx/>
              <a:buSzTx/>
              <a:buFontTx/>
              <a:buAutoNum type="arabicPeriod" startAt="5"/>
              <a:tabLst/>
            </a:pPr>
            <a:r>
              <a:rPr kumimoji="0" lang="en-US" altLang="en-US" sz="1400" b="1" i="0" u="none" strike="noStrike" cap="none" normalizeH="0" baseline="0" dirty="0">
                <a:ln>
                  <a:noFill/>
                </a:ln>
                <a:solidFill>
                  <a:schemeClr val="tx1"/>
                </a:solidFill>
                <a:effectLst/>
                <a:latin typeface="Century Gothic" panose="020B0502020202020204" pitchFamily="34" charset="0"/>
              </a:rPr>
              <a:t>Feature Extraction and Preprocessing:</a:t>
            </a:r>
            <a:endParaRPr lang="en-US" altLang="en-US" sz="1400" dirty="0">
              <a:latin typeface="Century Gothic" panose="020B0502020202020204" pitchFamily="34" charset="0"/>
            </a:endParaRPr>
          </a:p>
          <a:p>
            <a:pPr lvl="1" algn="just" eaLnBrk="0" fontAlgn="base" hangingPunct="0">
              <a:spcBef>
                <a:spcPct val="0"/>
              </a:spcBef>
              <a:spcAft>
                <a:spcPct val="0"/>
              </a:spcAft>
            </a:pPr>
            <a:r>
              <a:rPr kumimoji="0" lang="en-US" altLang="en-US" sz="1400" b="0" i="0" u="none" strike="noStrike" cap="none" normalizeH="0" baseline="0" dirty="0">
                <a:ln>
                  <a:noFill/>
                </a:ln>
                <a:solidFill>
                  <a:schemeClr val="tx1"/>
                </a:solidFill>
                <a:effectLst/>
                <a:latin typeface="Century Gothic" panose="020B0502020202020204" pitchFamily="34" charset="0"/>
              </a:rPr>
              <a:t>Extracts features like packet count data size, and traffic rate.</a:t>
            </a:r>
            <a:endParaRPr lang="en-US" altLang="en-US" sz="1400" dirty="0">
              <a:latin typeface="Century Gothic" panose="020B0502020202020204" pitchFamily="34" charset="0"/>
            </a:endParaRPr>
          </a:p>
          <a:p>
            <a:pPr lvl="1" algn="just" eaLnBrk="0" fontAlgn="base" hangingPunct="0">
              <a:spcBef>
                <a:spcPct val="0"/>
              </a:spcBef>
              <a:spcAft>
                <a:spcPct val="0"/>
              </a:spcAft>
            </a:pPr>
            <a:r>
              <a:rPr kumimoji="0" lang="en-US" altLang="en-US" sz="1400" b="0" i="0" u="none" strike="noStrike" cap="none" normalizeH="0" baseline="0" dirty="0">
                <a:ln>
                  <a:noFill/>
                </a:ln>
                <a:solidFill>
                  <a:schemeClr val="tx1"/>
                </a:solidFill>
                <a:effectLst/>
                <a:latin typeface="Century Gothic" panose="020B0502020202020204" pitchFamily="34" charset="0"/>
              </a:rPr>
              <a:t>Applies one-hot encoding and normalization for model compatibility.</a:t>
            </a:r>
          </a:p>
          <a:p>
            <a:pPr marL="0" marR="0" lvl="0" indent="0" algn="just" defTabSz="914400" rtl="0" eaLnBrk="0" fontAlgn="base" latinLnBrk="0" hangingPunct="0">
              <a:lnSpc>
                <a:spcPct val="100000"/>
              </a:lnSpc>
              <a:spcBef>
                <a:spcPct val="0"/>
              </a:spcBef>
              <a:spcAft>
                <a:spcPct val="0"/>
              </a:spcAft>
              <a:buClrTx/>
              <a:buSzTx/>
              <a:buFontTx/>
              <a:buAutoNum type="arabicPeriod" startAt="6"/>
              <a:tabLst/>
            </a:pPr>
            <a:r>
              <a:rPr kumimoji="0" lang="en-US" altLang="en-US" sz="1400" b="1" i="0" u="none" strike="noStrike" cap="none" normalizeH="0" baseline="0" dirty="0">
                <a:ln>
                  <a:noFill/>
                </a:ln>
                <a:solidFill>
                  <a:schemeClr val="tx1"/>
                </a:solidFill>
                <a:effectLst/>
                <a:latin typeface="Century Gothic" panose="020B0502020202020204" pitchFamily="34" charset="0"/>
              </a:rPr>
              <a:t>Output Preparation:</a:t>
            </a:r>
            <a:endParaRPr lang="en-US" altLang="en-US" sz="1400" dirty="0">
              <a:latin typeface="Century Gothic" panose="020B0502020202020204" pitchFamily="34" charset="0"/>
            </a:endParaRPr>
          </a:p>
          <a:p>
            <a:pPr lvl="1" algn="just" eaLnBrk="0" fontAlgn="base" hangingPunct="0">
              <a:spcBef>
                <a:spcPct val="0"/>
              </a:spcBef>
              <a:spcAft>
                <a:spcPct val="0"/>
              </a:spcAft>
            </a:pPr>
            <a:r>
              <a:rPr kumimoji="0" lang="en-US" altLang="en-US" sz="1400" b="0" i="0" u="none" strike="noStrike" cap="none" normalizeH="0" baseline="0" dirty="0">
                <a:ln>
                  <a:noFill/>
                </a:ln>
                <a:solidFill>
                  <a:schemeClr val="tx1"/>
                </a:solidFill>
                <a:effectLst/>
                <a:latin typeface="Century Gothic" panose="020B0502020202020204" pitchFamily="34" charset="0"/>
              </a:rPr>
              <a:t>Structures extracted features for ML model input, bridging raw traffic with predictive analysis.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Century Gothic" panose="020B0502020202020204" pitchFamily="34" charset="0"/>
            </a:endParaRPr>
          </a:p>
        </p:txBody>
      </p:sp>
    </p:spTree>
    <p:extLst>
      <p:ext uri="{BB962C8B-B14F-4D97-AF65-F5344CB8AC3E}">
        <p14:creationId xmlns:p14="http://schemas.microsoft.com/office/powerpoint/2010/main" val="14989179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700E2D3-2508-6929-433E-F52F482070DA}"/>
              </a:ext>
            </a:extLst>
          </p:cNvPr>
          <p:cNvSpPr>
            <a:spLocks noGrp="1"/>
          </p:cNvSpPr>
          <p:nvPr>
            <p:ph type="title"/>
          </p:nvPr>
        </p:nvSpPr>
        <p:spPr>
          <a:xfrm>
            <a:off x="609600" y="774413"/>
            <a:ext cx="7924800" cy="615553"/>
          </a:xfrm>
        </p:spPr>
        <p:txBody>
          <a:bodyPr/>
          <a:lstStyle/>
          <a:p>
            <a:pPr algn="ctr"/>
            <a:r>
              <a:rPr lang="en-US" sz="4000" dirty="0">
                <a:solidFill>
                  <a:srgbClr val="000000"/>
                </a:solidFill>
                <a:latin typeface="Times New Roman" panose="02020603050405020304" pitchFamily="18" charset="0"/>
              </a:rPr>
              <a:t>4.</a:t>
            </a:r>
            <a:r>
              <a:rPr lang="en-US" sz="4000" b="1" i="0" u="none" strike="noStrike" dirty="0">
                <a:solidFill>
                  <a:srgbClr val="000000"/>
                </a:solidFill>
                <a:effectLst/>
                <a:latin typeface="Times New Roman" panose="02020603050405020304" pitchFamily="18" charset="0"/>
              </a:rPr>
              <a:t>Implementation</a:t>
            </a:r>
            <a:endParaRPr lang="en-US" sz="4000" dirty="0">
              <a:latin typeface="Century Gothic" panose="020B0502020202020204" pitchFamily="34" charset="0"/>
            </a:endParaRPr>
          </a:p>
        </p:txBody>
      </p:sp>
      <p:sp>
        <p:nvSpPr>
          <p:cNvPr id="4" name="Rectangle 2">
            <a:extLst>
              <a:ext uri="{FF2B5EF4-FFF2-40B4-BE49-F238E27FC236}">
                <a16:creationId xmlns:a16="http://schemas.microsoft.com/office/drawing/2014/main" id="{093614BD-A1BE-52AF-2AAC-7339D66ADE19}"/>
              </a:ext>
            </a:extLst>
          </p:cNvPr>
          <p:cNvSpPr>
            <a:spLocks noChangeArrowheads="1"/>
          </p:cNvSpPr>
          <p:nvPr/>
        </p:nvSpPr>
        <p:spPr bwMode="auto">
          <a:xfrm>
            <a:off x="457200" y="2224445"/>
            <a:ext cx="8077200" cy="3816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400" b="1" i="0" u="none" strike="noStrike" cap="none" normalizeH="0" baseline="0" dirty="0">
                <a:ln>
                  <a:noFill/>
                </a:ln>
                <a:solidFill>
                  <a:schemeClr val="tx1"/>
                </a:solidFill>
                <a:effectLst/>
                <a:latin typeface="Century Gothic" panose="020B0502020202020204" pitchFamily="34" charset="0"/>
              </a:rPr>
              <a:t>dur (Duration):</a:t>
            </a:r>
            <a:r>
              <a:rPr kumimoji="0" lang="en-US" altLang="en-US" sz="1400" b="0" i="0" u="none" strike="noStrike" cap="none" normalizeH="0" baseline="0" dirty="0">
                <a:ln>
                  <a:noFill/>
                </a:ln>
                <a:solidFill>
                  <a:schemeClr val="tx1"/>
                </a:solidFill>
                <a:effectLst/>
                <a:latin typeface="Century Gothic" panose="020B0502020202020204" pitchFamily="34" charset="0"/>
              </a:rPr>
              <a:t> Indicates session length; prolonged sessions might signify exfiltration or DoS attacks.</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400" b="1" i="0" u="none" strike="noStrike" cap="none" normalizeH="0" baseline="0" dirty="0" err="1">
                <a:ln>
                  <a:noFill/>
                </a:ln>
                <a:solidFill>
                  <a:schemeClr val="tx1"/>
                </a:solidFill>
                <a:effectLst/>
                <a:latin typeface="Century Gothic" panose="020B0502020202020204" pitchFamily="34" charset="0"/>
              </a:rPr>
              <a:t>spkts</a:t>
            </a:r>
            <a:r>
              <a:rPr kumimoji="0" lang="en-US" altLang="en-US" sz="1400" b="1" i="0" u="none" strike="noStrike" cap="none" normalizeH="0" baseline="0" dirty="0">
                <a:ln>
                  <a:noFill/>
                </a:ln>
                <a:solidFill>
                  <a:schemeClr val="tx1"/>
                </a:solidFill>
                <a:effectLst/>
                <a:latin typeface="Century Gothic" panose="020B0502020202020204" pitchFamily="34" charset="0"/>
              </a:rPr>
              <a:t> (Source Packets):</a:t>
            </a:r>
            <a:r>
              <a:rPr kumimoji="0" lang="en-US" altLang="en-US" sz="1400" b="0" i="0" u="none" strike="noStrike" cap="none" normalizeH="0" baseline="0" dirty="0">
                <a:ln>
                  <a:noFill/>
                </a:ln>
                <a:solidFill>
                  <a:schemeClr val="tx1"/>
                </a:solidFill>
                <a:effectLst/>
                <a:latin typeface="Century Gothic" panose="020B0502020202020204" pitchFamily="34" charset="0"/>
              </a:rPr>
              <a:t> Tracks packets sent by the source to identify traffic patterns.</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400" b="1" i="0" u="none" strike="noStrike" cap="none" normalizeH="0" baseline="0" dirty="0" err="1">
                <a:ln>
                  <a:noFill/>
                </a:ln>
                <a:solidFill>
                  <a:schemeClr val="tx1"/>
                </a:solidFill>
                <a:effectLst/>
                <a:latin typeface="Century Gothic" panose="020B0502020202020204" pitchFamily="34" charset="0"/>
              </a:rPr>
              <a:t>dpkts</a:t>
            </a:r>
            <a:r>
              <a:rPr kumimoji="0" lang="en-US" altLang="en-US" sz="1400" b="1" i="0" u="none" strike="noStrike" cap="none" normalizeH="0" baseline="0" dirty="0">
                <a:ln>
                  <a:noFill/>
                </a:ln>
                <a:solidFill>
                  <a:schemeClr val="tx1"/>
                </a:solidFill>
                <a:effectLst/>
                <a:latin typeface="Century Gothic" panose="020B0502020202020204" pitchFamily="34" charset="0"/>
              </a:rPr>
              <a:t> (Destination Packets):</a:t>
            </a:r>
            <a:r>
              <a:rPr kumimoji="0" lang="en-US" altLang="en-US" sz="1400" b="0" i="0" u="none" strike="noStrike" cap="none" normalizeH="0" baseline="0" dirty="0">
                <a:ln>
                  <a:noFill/>
                </a:ln>
                <a:solidFill>
                  <a:schemeClr val="tx1"/>
                </a:solidFill>
                <a:effectLst/>
                <a:latin typeface="Century Gothic" panose="020B0502020202020204" pitchFamily="34" charset="0"/>
              </a:rPr>
              <a:t> Measures packets received; anomalies may suggest malicious traffic.</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400" b="1" i="0" u="none" strike="noStrike" cap="none" normalizeH="0" baseline="0" dirty="0" err="1">
                <a:ln>
                  <a:noFill/>
                </a:ln>
                <a:solidFill>
                  <a:schemeClr val="tx1"/>
                </a:solidFill>
                <a:effectLst/>
                <a:latin typeface="Century Gothic" panose="020B0502020202020204" pitchFamily="34" charset="0"/>
              </a:rPr>
              <a:t>sbytes</a:t>
            </a:r>
            <a:r>
              <a:rPr kumimoji="0" lang="en-US" altLang="en-US" sz="1400" b="1" i="0" u="none" strike="noStrike" cap="none" normalizeH="0" baseline="0" dirty="0">
                <a:ln>
                  <a:noFill/>
                </a:ln>
                <a:solidFill>
                  <a:schemeClr val="tx1"/>
                </a:solidFill>
                <a:effectLst/>
                <a:latin typeface="Century Gothic" panose="020B0502020202020204" pitchFamily="34" charset="0"/>
              </a:rPr>
              <a:t> (Source Bytes):</a:t>
            </a:r>
            <a:r>
              <a:rPr kumimoji="0" lang="en-US" altLang="en-US" sz="1400" b="0" i="0" u="none" strike="noStrike" cap="none" normalizeH="0" baseline="0" dirty="0">
                <a:ln>
                  <a:noFill/>
                </a:ln>
                <a:solidFill>
                  <a:schemeClr val="tx1"/>
                </a:solidFill>
                <a:effectLst/>
                <a:latin typeface="Century Gothic" panose="020B0502020202020204" pitchFamily="34" charset="0"/>
              </a:rPr>
              <a:t> Reflects data size sent by the source; large sizes could indicate data exfiltration.</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400" b="1" i="0" u="none" strike="noStrike" cap="none" normalizeH="0" baseline="0" dirty="0" err="1">
                <a:ln>
                  <a:noFill/>
                </a:ln>
                <a:solidFill>
                  <a:schemeClr val="tx1"/>
                </a:solidFill>
                <a:effectLst/>
                <a:latin typeface="Century Gothic" panose="020B0502020202020204" pitchFamily="34" charset="0"/>
              </a:rPr>
              <a:t>dbytes</a:t>
            </a:r>
            <a:r>
              <a:rPr kumimoji="0" lang="en-US" altLang="en-US" sz="1400" b="1" i="0" u="none" strike="noStrike" cap="none" normalizeH="0" baseline="0" dirty="0">
                <a:ln>
                  <a:noFill/>
                </a:ln>
                <a:solidFill>
                  <a:schemeClr val="tx1"/>
                </a:solidFill>
                <a:effectLst/>
                <a:latin typeface="Century Gothic" panose="020B0502020202020204" pitchFamily="34" charset="0"/>
              </a:rPr>
              <a:t> (Destination Bytes):</a:t>
            </a:r>
            <a:r>
              <a:rPr kumimoji="0" lang="en-US" altLang="en-US" sz="1400" b="0" i="0" u="none" strike="noStrike" cap="none" normalizeH="0" baseline="0" dirty="0">
                <a:ln>
                  <a:noFill/>
                </a:ln>
                <a:solidFill>
                  <a:schemeClr val="tx1"/>
                </a:solidFill>
                <a:effectLst/>
                <a:latin typeface="Century Gothic" panose="020B0502020202020204" pitchFamily="34" charset="0"/>
              </a:rPr>
              <a:t> Tracks data size received; patterns help detect anomalies.</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400" b="1" i="0" u="none" strike="noStrike" cap="none" normalizeH="0" baseline="0" dirty="0">
                <a:ln>
                  <a:noFill/>
                </a:ln>
                <a:solidFill>
                  <a:schemeClr val="tx1"/>
                </a:solidFill>
                <a:effectLst/>
                <a:latin typeface="Century Gothic" panose="020B0502020202020204" pitchFamily="34" charset="0"/>
              </a:rPr>
              <a:t>rate (Rate of Data Transfer):</a:t>
            </a:r>
            <a:r>
              <a:rPr kumimoji="0" lang="en-US" altLang="en-US" sz="1400" b="0" i="0" u="none" strike="noStrike" cap="none" normalizeH="0" baseline="0" dirty="0">
                <a:ln>
                  <a:noFill/>
                </a:ln>
                <a:solidFill>
                  <a:schemeClr val="tx1"/>
                </a:solidFill>
                <a:effectLst/>
                <a:latin typeface="Century Gothic" panose="020B0502020202020204" pitchFamily="34" charset="0"/>
              </a:rPr>
              <a:t> Useful for identifying excessive or idle traffic rates.</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400" b="1" i="0" u="none" strike="noStrike" cap="none" normalizeH="0" baseline="0" dirty="0">
                <a:ln>
                  <a:noFill/>
                </a:ln>
                <a:solidFill>
                  <a:schemeClr val="tx1"/>
                </a:solidFill>
                <a:effectLst/>
                <a:latin typeface="Century Gothic" panose="020B0502020202020204" pitchFamily="34" charset="0"/>
              </a:rPr>
              <a:t>length (Total Data Length):</a:t>
            </a:r>
            <a:r>
              <a:rPr kumimoji="0" lang="en-US" altLang="en-US" sz="1400" b="0" i="0" u="none" strike="noStrike" cap="none" normalizeH="0" baseline="0" dirty="0">
                <a:ln>
                  <a:noFill/>
                </a:ln>
                <a:solidFill>
                  <a:schemeClr val="tx1"/>
                </a:solidFill>
                <a:effectLst/>
                <a:latin typeface="Century Gothic" panose="020B0502020202020204" pitchFamily="34" charset="0"/>
              </a:rPr>
              <a:t> Aggregates </a:t>
            </a:r>
            <a:r>
              <a:rPr kumimoji="0" lang="en-US" altLang="en-US" sz="1400" b="0" i="0" u="none" strike="noStrike" cap="none" normalizeH="0" baseline="0" dirty="0" err="1">
                <a:ln>
                  <a:noFill/>
                </a:ln>
                <a:solidFill>
                  <a:schemeClr val="tx1"/>
                </a:solidFill>
                <a:effectLst/>
                <a:latin typeface="Century Gothic" panose="020B0502020202020204" pitchFamily="34" charset="0"/>
              </a:rPr>
              <a:t>sbytes</a:t>
            </a:r>
            <a:r>
              <a:rPr kumimoji="0" lang="en-US" altLang="en-US" sz="1400" b="0" i="0" u="none" strike="noStrike" cap="none" normalizeH="0" baseline="0" dirty="0">
                <a:ln>
                  <a:noFill/>
                </a:ln>
                <a:solidFill>
                  <a:schemeClr val="tx1"/>
                </a:solidFill>
                <a:effectLst/>
                <a:latin typeface="Century Gothic" panose="020B0502020202020204" pitchFamily="34" charset="0"/>
              </a:rPr>
              <a:t> and </a:t>
            </a:r>
            <a:r>
              <a:rPr kumimoji="0" lang="en-US" altLang="en-US" sz="1400" b="0" i="0" u="none" strike="noStrike" cap="none" normalizeH="0" baseline="0" dirty="0" err="1">
                <a:ln>
                  <a:noFill/>
                </a:ln>
                <a:solidFill>
                  <a:schemeClr val="tx1"/>
                </a:solidFill>
                <a:effectLst/>
                <a:latin typeface="Century Gothic" panose="020B0502020202020204" pitchFamily="34" charset="0"/>
              </a:rPr>
              <a:t>dbytes</a:t>
            </a:r>
            <a:r>
              <a:rPr kumimoji="0" lang="en-US" altLang="en-US" sz="1400" b="0" i="0" u="none" strike="noStrike" cap="none" normalizeH="0" baseline="0" dirty="0">
                <a:ln>
                  <a:noFill/>
                </a:ln>
                <a:solidFill>
                  <a:schemeClr val="tx1"/>
                </a:solidFill>
                <a:effectLst/>
                <a:latin typeface="Century Gothic" panose="020B0502020202020204" pitchFamily="34" charset="0"/>
              </a:rPr>
              <a:t> to monitor overall session size.</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400" b="1" i="0" u="none" strike="noStrike" cap="none" normalizeH="0" baseline="0" dirty="0">
                <a:ln>
                  <a:noFill/>
                </a:ln>
                <a:solidFill>
                  <a:schemeClr val="tx1"/>
                </a:solidFill>
                <a:effectLst/>
                <a:latin typeface="Century Gothic" panose="020B0502020202020204" pitchFamily="34" charset="0"/>
              </a:rPr>
              <a:t>direction (Packet Ratio):</a:t>
            </a:r>
            <a:r>
              <a:rPr kumimoji="0" lang="en-US" altLang="en-US" sz="1400" b="0" i="0" u="none" strike="noStrike" cap="none" normalizeH="0" baseline="0" dirty="0">
                <a:ln>
                  <a:noFill/>
                </a:ln>
                <a:solidFill>
                  <a:schemeClr val="tx1"/>
                </a:solidFill>
                <a:effectLst/>
                <a:latin typeface="Century Gothic" panose="020B0502020202020204" pitchFamily="34" charset="0"/>
              </a:rPr>
              <a:t> Analyzes balance between source and destination flows.</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400" b="1" i="0" u="none" strike="noStrike" cap="none" normalizeH="0" baseline="0" dirty="0">
                <a:ln>
                  <a:noFill/>
                </a:ln>
                <a:solidFill>
                  <a:schemeClr val="tx1"/>
                </a:solidFill>
                <a:effectLst/>
                <a:latin typeface="Century Gothic" panose="020B0502020202020204" pitchFamily="34" charset="0"/>
              </a:rPr>
              <a:t>proto (Protocol Type):</a:t>
            </a:r>
            <a:r>
              <a:rPr kumimoji="0" lang="en-US" altLang="en-US" sz="1400" b="0" i="0" u="none" strike="noStrike" cap="none" normalizeH="0" baseline="0" dirty="0">
                <a:ln>
                  <a:noFill/>
                </a:ln>
                <a:solidFill>
                  <a:schemeClr val="tx1"/>
                </a:solidFill>
                <a:effectLst/>
                <a:latin typeface="Century Gothic" panose="020B0502020202020204" pitchFamily="34" charset="0"/>
              </a:rPr>
              <a:t> Identifies protocol (e.g., TCP, UDP); useful for protocol-specific anomalies.</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400" b="1" i="0" u="none" strike="noStrike" cap="none" normalizeH="0" baseline="0" dirty="0">
                <a:ln>
                  <a:noFill/>
                </a:ln>
                <a:solidFill>
                  <a:schemeClr val="tx1"/>
                </a:solidFill>
                <a:effectLst/>
                <a:latin typeface="Century Gothic" panose="020B0502020202020204" pitchFamily="34" charset="0"/>
              </a:rPr>
              <a:t>service (Service Type):</a:t>
            </a:r>
            <a:r>
              <a:rPr kumimoji="0" lang="en-US" altLang="en-US" sz="1400" b="0" i="0" u="none" strike="noStrike" cap="none" normalizeH="0" baseline="0" dirty="0">
                <a:ln>
                  <a:noFill/>
                </a:ln>
                <a:solidFill>
                  <a:schemeClr val="tx1"/>
                </a:solidFill>
                <a:effectLst/>
                <a:latin typeface="Century Gothic" panose="020B0502020202020204" pitchFamily="34" charset="0"/>
              </a:rPr>
              <a:t> Tracks target services like HTTP or FTP to detect attack trends.</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400" b="1" i="0" u="none" strike="noStrike" cap="none" normalizeH="0" baseline="0" dirty="0" err="1">
                <a:ln>
                  <a:noFill/>
                </a:ln>
                <a:solidFill>
                  <a:schemeClr val="tx1"/>
                </a:solidFill>
                <a:effectLst/>
                <a:latin typeface="Century Gothic" panose="020B0502020202020204" pitchFamily="34" charset="0"/>
              </a:rPr>
              <a:t>size_variance</a:t>
            </a:r>
            <a:r>
              <a:rPr kumimoji="0" lang="en-US" altLang="en-US" sz="1400" b="1" i="0" u="none" strike="noStrike" cap="none" normalizeH="0" baseline="0" dirty="0">
                <a:ln>
                  <a:noFill/>
                </a:ln>
                <a:solidFill>
                  <a:schemeClr val="tx1"/>
                </a:solidFill>
                <a:effectLst/>
                <a:latin typeface="Century Gothic" panose="020B0502020202020204" pitchFamily="34" charset="0"/>
              </a:rPr>
              <a:t>:</a:t>
            </a:r>
            <a:r>
              <a:rPr kumimoji="0" lang="en-US" altLang="en-US" sz="1400" b="0" i="0" u="none" strike="noStrike" cap="none" normalizeH="0" baseline="0" dirty="0">
                <a:ln>
                  <a:noFill/>
                </a:ln>
                <a:solidFill>
                  <a:schemeClr val="tx1"/>
                </a:solidFill>
                <a:effectLst/>
                <a:latin typeface="Century Gothic" panose="020B0502020202020204" pitchFamily="34" charset="0"/>
              </a:rPr>
              <a:t> Highlights asymmetry in data exchange; indicates spoofing or flood attacks.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Century Gothic" panose="020B0502020202020204" pitchFamily="34" charset="0"/>
            </a:endParaRPr>
          </a:p>
        </p:txBody>
      </p:sp>
      <p:sp>
        <p:nvSpPr>
          <p:cNvPr id="7" name="TextBox 6">
            <a:extLst>
              <a:ext uri="{FF2B5EF4-FFF2-40B4-BE49-F238E27FC236}">
                <a16:creationId xmlns:a16="http://schemas.microsoft.com/office/drawing/2014/main" id="{9873DA54-B50D-752F-A781-1694826366B4}"/>
              </a:ext>
            </a:extLst>
          </p:cNvPr>
          <p:cNvSpPr txBox="1"/>
          <p:nvPr/>
        </p:nvSpPr>
        <p:spPr>
          <a:xfrm>
            <a:off x="228600" y="1491734"/>
            <a:ext cx="4572000"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Selected Features: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140970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700E2D3-2508-6929-433E-F52F482070DA}"/>
              </a:ext>
            </a:extLst>
          </p:cNvPr>
          <p:cNvSpPr>
            <a:spLocks noGrp="1"/>
          </p:cNvSpPr>
          <p:nvPr>
            <p:ph type="title"/>
          </p:nvPr>
        </p:nvSpPr>
        <p:spPr>
          <a:xfrm>
            <a:off x="483704" y="620068"/>
            <a:ext cx="7924800" cy="615553"/>
          </a:xfrm>
        </p:spPr>
        <p:txBody>
          <a:bodyPr/>
          <a:lstStyle/>
          <a:p>
            <a:pPr algn="ctr"/>
            <a:r>
              <a:rPr lang="en-US" sz="4000" b="1" i="0" u="none" strike="noStrike" dirty="0">
                <a:solidFill>
                  <a:srgbClr val="000000"/>
                </a:solidFill>
                <a:effectLst/>
                <a:latin typeface="Century Gothic" panose="020B0502020202020204" pitchFamily="34" charset="0"/>
              </a:rPr>
              <a:t>4. Implementation</a:t>
            </a:r>
            <a:endParaRPr lang="en-US" sz="4000" dirty="0">
              <a:latin typeface="Century Gothic" panose="020B0502020202020204" pitchFamily="34" charset="0"/>
            </a:endParaRPr>
          </a:p>
        </p:txBody>
      </p:sp>
      <p:sp>
        <p:nvSpPr>
          <p:cNvPr id="4" name="TextBox 3">
            <a:extLst>
              <a:ext uri="{FF2B5EF4-FFF2-40B4-BE49-F238E27FC236}">
                <a16:creationId xmlns:a16="http://schemas.microsoft.com/office/drawing/2014/main" id="{AD422040-120A-4349-5C08-F355E57B8B0D}"/>
              </a:ext>
            </a:extLst>
          </p:cNvPr>
          <p:cNvSpPr txBox="1"/>
          <p:nvPr/>
        </p:nvSpPr>
        <p:spPr>
          <a:xfrm>
            <a:off x="405012" y="1374273"/>
            <a:ext cx="2362200" cy="369332"/>
          </a:xfrm>
          <a:prstGeom prst="rect">
            <a:avLst/>
          </a:prstGeom>
          <a:noFill/>
        </p:spPr>
        <p:txBody>
          <a:bodyPr wrap="square">
            <a:spAutoFit/>
          </a:bodyPr>
          <a:lstStyle/>
          <a:p>
            <a:r>
              <a:rPr lang="en-US" sz="1800" b="1" i="0" u="none" strike="noStrike" dirty="0">
                <a:solidFill>
                  <a:srgbClr val="000000"/>
                </a:solidFill>
                <a:effectLst/>
                <a:latin typeface="Century Gothic" panose="020B0502020202020204" pitchFamily="34" charset="0"/>
              </a:rPr>
              <a:t>4.2 Alert System</a:t>
            </a:r>
            <a:endParaRPr lang="en-US" dirty="0">
              <a:latin typeface="Century Gothic" panose="020B0502020202020204" pitchFamily="34" charset="0"/>
            </a:endParaRPr>
          </a:p>
        </p:txBody>
      </p:sp>
      <p:pic>
        <p:nvPicPr>
          <p:cNvPr id="1026" name="Picture 2">
            <a:extLst>
              <a:ext uri="{FF2B5EF4-FFF2-40B4-BE49-F238E27FC236}">
                <a16:creationId xmlns:a16="http://schemas.microsoft.com/office/drawing/2014/main" id="{D4B5FE9F-DDC1-2B67-61E9-266DFB90D33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7200" y="1882257"/>
            <a:ext cx="4567016" cy="192774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4">
            <a:extLst>
              <a:ext uri="{FF2B5EF4-FFF2-40B4-BE49-F238E27FC236}">
                <a16:creationId xmlns:a16="http://schemas.microsoft.com/office/drawing/2014/main" id="{ED7337A6-D77B-DE26-CDE9-1A51114F561E}"/>
              </a:ext>
            </a:extLst>
          </p:cNvPr>
          <p:cNvSpPr>
            <a:spLocks noChangeArrowheads="1"/>
          </p:cNvSpPr>
          <p:nvPr/>
        </p:nvSpPr>
        <p:spPr bwMode="auto">
          <a:xfrm>
            <a:off x="5167513" y="1451370"/>
            <a:ext cx="3352800"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tabLst/>
            </a:pPr>
            <a:r>
              <a:rPr kumimoji="0" lang="en-US" altLang="en-US" sz="1400" b="1" i="0" u="none" strike="noStrike" cap="none" normalizeH="0" baseline="0" dirty="0">
                <a:ln>
                  <a:noFill/>
                </a:ln>
                <a:solidFill>
                  <a:schemeClr val="tx1"/>
                </a:solidFill>
                <a:effectLst/>
                <a:latin typeface="Century Gothic" panose="020B0502020202020204" pitchFamily="34" charset="0"/>
              </a:rPr>
              <a:t>1.</a:t>
            </a:r>
            <a:r>
              <a:rPr lang="en-US" altLang="en-US" sz="1400" b="1" dirty="0">
                <a:latin typeface="Century Gothic" panose="020B0502020202020204" pitchFamily="34" charset="0"/>
              </a:rPr>
              <a:t>I</a:t>
            </a:r>
            <a:r>
              <a:rPr kumimoji="0" lang="en-US" altLang="en-US" sz="1400" b="1" i="0" u="none" strike="noStrike" cap="none" normalizeH="0" baseline="0" dirty="0">
                <a:ln>
                  <a:noFill/>
                </a:ln>
                <a:solidFill>
                  <a:schemeClr val="tx1"/>
                </a:solidFill>
                <a:effectLst/>
                <a:latin typeface="Century Gothic" panose="020B0502020202020204" pitchFamily="34" charset="0"/>
              </a:rPr>
              <a:t>nput from Preprocessing:</a:t>
            </a:r>
            <a:endParaRPr kumimoji="0" lang="en-US" altLang="en-US" sz="1400" b="0" i="0" u="none" strike="noStrike" cap="none" normalizeH="0" baseline="0" dirty="0">
              <a:ln>
                <a:noFill/>
              </a:ln>
              <a:solidFill>
                <a:schemeClr val="tx1"/>
              </a:solidFill>
              <a:effectLst/>
              <a:latin typeface="Century Gothic" panose="020B0502020202020204" pitchFamily="34" charset="0"/>
            </a:endParaRP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entury Gothic" panose="020B0502020202020204" pitchFamily="34" charset="0"/>
              </a:rPr>
              <a:t>Features extracted from network traffic are fed into the ML model.</a:t>
            </a:r>
          </a:p>
          <a:p>
            <a:pPr marL="0" marR="0" lvl="0" indent="0" algn="just" defTabSz="914400" rtl="0" eaLnBrk="0" fontAlgn="base" latinLnBrk="0" hangingPunct="0">
              <a:lnSpc>
                <a:spcPct val="100000"/>
              </a:lnSpc>
              <a:spcBef>
                <a:spcPct val="0"/>
              </a:spcBef>
              <a:spcAft>
                <a:spcPct val="0"/>
              </a:spcAft>
              <a:buClrTx/>
              <a:buSzTx/>
              <a:buFontTx/>
              <a:buAutoNum type="arabicPeriod" startAt="2"/>
              <a:tabLst/>
            </a:pPr>
            <a:r>
              <a:rPr kumimoji="0" lang="en-US" altLang="en-US" sz="1400" b="1" i="0" u="none" strike="noStrike" cap="none" normalizeH="0" baseline="0" dirty="0">
                <a:ln>
                  <a:noFill/>
                </a:ln>
                <a:solidFill>
                  <a:schemeClr val="tx1"/>
                </a:solidFill>
                <a:effectLst/>
                <a:latin typeface="Century Gothic" panose="020B0502020202020204" pitchFamily="34" charset="0"/>
              </a:rPr>
              <a:t>Attack Classification:</a:t>
            </a:r>
            <a:endParaRPr kumimoji="0" lang="en-US" altLang="en-US" sz="1400" b="0" i="0" u="none" strike="noStrike" cap="none" normalizeH="0" baseline="0" dirty="0">
              <a:ln>
                <a:noFill/>
              </a:ln>
              <a:solidFill>
                <a:schemeClr val="tx1"/>
              </a:solidFill>
              <a:effectLst/>
              <a:latin typeface="Century Gothic" panose="020B0502020202020204" pitchFamily="34" charset="0"/>
            </a:endParaRP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entury Gothic" panose="020B0502020202020204" pitchFamily="34" charset="0"/>
              </a:rPr>
              <a:t>Normal traffic: No action is taken.</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entury Gothic" panose="020B0502020202020204" pitchFamily="34" charset="0"/>
              </a:rPr>
              <a:t>Malicious traffic: Triggers the alert system.</a:t>
            </a:r>
          </a:p>
          <a:p>
            <a:pPr marL="0" marR="0" lvl="0" indent="0" algn="just" defTabSz="914400" rtl="0" eaLnBrk="0" fontAlgn="base" latinLnBrk="0" hangingPunct="0">
              <a:lnSpc>
                <a:spcPct val="100000"/>
              </a:lnSpc>
              <a:spcBef>
                <a:spcPct val="0"/>
              </a:spcBef>
              <a:spcAft>
                <a:spcPct val="0"/>
              </a:spcAft>
              <a:buClrTx/>
              <a:buSzTx/>
              <a:buFontTx/>
              <a:buAutoNum type="arabicPeriod" startAt="3"/>
              <a:tabLst/>
            </a:pPr>
            <a:r>
              <a:rPr kumimoji="0" lang="en-US" altLang="en-US" sz="1400" b="1" i="0" u="none" strike="noStrike" cap="none" normalizeH="0" baseline="0" dirty="0">
                <a:ln>
                  <a:noFill/>
                </a:ln>
                <a:solidFill>
                  <a:schemeClr val="tx1"/>
                </a:solidFill>
                <a:effectLst/>
                <a:latin typeface="Century Gothic" panose="020B0502020202020204" pitchFamily="34" charset="0"/>
              </a:rPr>
              <a:t>Alert System:</a:t>
            </a:r>
            <a:endParaRPr kumimoji="0" lang="en-US" altLang="en-US" sz="1400" b="0" i="0" u="none" strike="noStrike" cap="none" normalizeH="0" baseline="0" dirty="0">
              <a:ln>
                <a:noFill/>
              </a:ln>
              <a:solidFill>
                <a:schemeClr val="tx1"/>
              </a:solidFill>
              <a:effectLst/>
              <a:latin typeface="Century Gothic" panose="020B0502020202020204" pitchFamily="34" charset="0"/>
            </a:endParaRP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entury Gothic" panose="020B0502020202020204" pitchFamily="34" charset="0"/>
              </a:rPr>
              <a:t>Collects details on detected threat (e.g., type, timestamp, protocol, traffic characteristics).</a:t>
            </a:r>
          </a:p>
          <a:p>
            <a:pPr marL="0" marR="0" lvl="0" indent="0" algn="just" defTabSz="914400" rtl="0" eaLnBrk="0" fontAlgn="base" latinLnBrk="0" hangingPunct="0">
              <a:lnSpc>
                <a:spcPct val="100000"/>
              </a:lnSpc>
              <a:spcBef>
                <a:spcPct val="0"/>
              </a:spcBef>
              <a:spcAft>
                <a:spcPct val="0"/>
              </a:spcAft>
              <a:buClrTx/>
              <a:buSzTx/>
              <a:buFontTx/>
              <a:buAutoNum type="arabicPeriod" startAt="4"/>
              <a:tabLst/>
            </a:pPr>
            <a:r>
              <a:rPr kumimoji="0" lang="en-US" altLang="en-US" sz="1400" b="1" i="0" u="none" strike="noStrike" cap="none" normalizeH="0" baseline="0" dirty="0">
                <a:ln>
                  <a:noFill/>
                </a:ln>
                <a:solidFill>
                  <a:schemeClr val="tx1"/>
                </a:solidFill>
                <a:effectLst/>
                <a:latin typeface="Century Gothic" panose="020B0502020202020204" pitchFamily="34" charset="0"/>
              </a:rPr>
              <a:t>User Notification:</a:t>
            </a:r>
            <a:endParaRPr kumimoji="0" lang="en-US" altLang="en-US" sz="1400" b="0" i="0" u="none" strike="noStrike" cap="none" normalizeH="0" baseline="0" dirty="0">
              <a:ln>
                <a:noFill/>
              </a:ln>
              <a:solidFill>
                <a:schemeClr val="tx1"/>
              </a:solidFill>
              <a:effectLst/>
              <a:latin typeface="Century Gothic" panose="020B0502020202020204" pitchFamily="34" charset="0"/>
            </a:endParaRP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entury Gothic" panose="020B0502020202020204" pitchFamily="34" charset="0"/>
              </a:rPr>
              <a:t>Sends detailed email alerts using SMTP.</a:t>
            </a:r>
          </a:p>
          <a:p>
            <a:pPr marL="0" marR="0" lvl="0" indent="0" algn="just" defTabSz="914400" rtl="0" eaLnBrk="0" fontAlgn="base" latinLnBrk="0" hangingPunct="0">
              <a:lnSpc>
                <a:spcPct val="100000"/>
              </a:lnSpc>
              <a:spcBef>
                <a:spcPct val="0"/>
              </a:spcBef>
              <a:spcAft>
                <a:spcPct val="0"/>
              </a:spcAft>
              <a:buClrTx/>
              <a:buSzTx/>
              <a:buFontTx/>
              <a:buAutoNum type="arabicPeriod" startAt="5"/>
              <a:tabLst/>
            </a:pPr>
            <a:r>
              <a:rPr kumimoji="0" lang="en-US" altLang="en-US" sz="1400" b="1" i="0" u="none" strike="noStrike" cap="none" normalizeH="0" baseline="0" dirty="0">
                <a:ln>
                  <a:noFill/>
                </a:ln>
                <a:solidFill>
                  <a:schemeClr val="tx1"/>
                </a:solidFill>
                <a:effectLst/>
                <a:latin typeface="Century Gothic" panose="020B0502020202020204" pitchFamily="34" charset="0"/>
              </a:rPr>
              <a:t>Output:</a:t>
            </a:r>
            <a:endParaRPr kumimoji="0" lang="en-US" altLang="en-US" sz="1400" b="0" i="0" u="none" strike="noStrike" cap="none" normalizeH="0" baseline="0" dirty="0">
              <a:ln>
                <a:noFill/>
              </a:ln>
              <a:solidFill>
                <a:schemeClr val="tx1"/>
              </a:solidFill>
              <a:effectLst/>
              <a:latin typeface="Century Gothic" panose="020B0502020202020204" pitchFamily="34" charset="0"/>
            </a:endParaRP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Century Gothic" panose="020B0502020202020204" pitchFamily="34" charset="0"/>
              </a:rPr>
              <a:t>Provides logs and notifications to inform users for further action.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Century Gothic" panose="020B0502020202020204" pitchFamily="34" charset="0"/>
            </a:endParaRPr>
          </a:p>
        </p:txBody>
      </p:sp>
    </p:spTree>
    <p:extLst>
      <p:ext uri="{BB962C8B-B14F-4D97-AF65-F5344CB8AC3E}">
        <p14:creationId xmlns:p14="http://schemas.microsoft.com/office/powerpoint/2010/main" val="7862577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700E2D3-2508-6929-433E-F52F482070DA}"/>
              </a:ext>
            </a:extLst>
          </p:cNvPr>
          <p:cNvSpPr>
            <a:spLocks noGrp="1"/>
          </p:cNvSpPr>
          <p:nvPr>
            <p:ph type="title"/>
          </p:nvPr>
        </p:nvSpPr>
        <p:spPr>
          <a:xfrm>
            <a:off x="304800" y="609600"/>
            <a:ext cx="7924800" cy="615553"/>
          </a:xfrm>
        </p:spPr>
        <p:txBody>
          <a:bodyPr/>
          <a:lstStyle/>
          <a:p>
            <a:pPr algn="ctr"/>
            <a:r>
              <a:rPr lang="en-US" sz="4000" b="1" dirty="0">
                <a:solidFill>
                  <a:schemeClr val="tx1"/>
                </a:solidFill>
                <a:latin typeface="Century Gothic" panose="020B0502020202020204" pitchFamily="34" charset="0"/>
              </a:rPr>
              <a:t>5.Result and Analysis</a:t>
            </a:r>
            <a:endParaRPr lang="en-US" sz="4000" dirty="0">
              <a:solidFill>
                <a:schemeClr val="tx1"/>
              </a:solidFill>
              <a:latin typeface="Century Gothic" panose="020B0502020202020204" pitchFamily="34" charset="0"/>
            </a:endParaRPr>
          </a:p>
        </p:txBody>
      </p:sp>
      <p:sp>
        <p:nvSpPr>
          <p:cNvPr id="7" name="TextBox 6">
            <a:extLst>
              <a:ext uri="{FF2B5EF4-FFF2-40B4-BE49-F238E27FC236}">
                <a16:creationId xmlns:a16="http://schemas.microsoft.com/office/drawing/2014/main" id="{CEB34112-44CC-4590-7E8A-E5256BBC6D7B}"/>
              </a:ext>
            </a:extLst>
          </p:cNvPr>
          <p:cNvSpPr txBox="1"/>
          <p:nvPr/>
        </p:nvSpPr>
        <p:spPr>
          <a:xfrm>
            <a:off x="606287" y="1600200"/>
            <a:ext cx="7848600" cy="4801314"/>
          </a:xfrm>
          <a:prstGeom prst="rect">
            <a:avLst/>
          </a:prstGeom>
          <a:noFill/>
        </p:spPr>
        <p:txBody>
          <a:bodyPr wrap="square">
            <a:spAutoFit/>
          </a:bodyPr>
          <a:lstStyle/>
          <a:p>
            <a:pPr algn="just">
              <a:buFont typeface="Arial" panose="020B0604020202020204" pitchFamily="34" charset="0"/>
              <a:buChar char="•"/>
            </a:pPr>
            <a:r>
              <a:rPr lang="en-US" b="1" dirty="0">
                <a:latin typeface="Century Gothic" panose="020B0502020202020204" pitchFamily="34" charset="0"/>
              </a:rPr>
              <a:t>Real-Time Detection:</a:t>
            </a:r>
            <a:endParaRPr lang="en-US" dirty="0">
              <a:latin typeface="Century Gothic" panose="020B0502020202020204" pitchFamily="34" charset="0"/>
            </a:endParaRPr>
          </a:p>
          <a:p>
            <a:pPr marL="742950" lvl="1" indent="-285750" algn="just">
              <a:buFont typeface="Arial" panose="020B0604020202020204" pitchFamily="34" charset="0"/>
              <a:buChar char="•"/>
            </a:pPr>
            <a:r>
              <a:rPr lang="en-US" dirty="0">
                <a:latin typeface="Century Gothic" panose="020B0502020202020204" pitchFamily="34" charset="0"/>
              </a:rPr>
              <a:t>System successfully identified malicious activities like Backdoor attacks.</a:t>
            </a:r>
          </a:p>
          <a:p>
            <a:pPr marL="742950" lvl="1" indent="-285750" algn="just">
              <a:buFont typeface="Arial" panose="020B0604020202020204" pitchFamily="34" charset="0"/>
              <a:buChar char="•"/>
            </a:pPr>
            <a:r>
              <a:rPr lang="en-US" dirty="0">
                <a:latin typeface="Century Gothic" panose="020B0502020202020204" pitchFamily="34" charset="0"/>
              </a:rPr>
              <a:t>Features like Protocol Type, Packets Sent/Received, and Data Size were crucial for real-time predictions.</a:t>
            </a:r>
          </a:p>
          <a:p>
            <a:pPr marL="742950" lvl="1" indent="-285750" algn="just">
              <a:buFont typeface="Arial" panose="020B0604020202020204" pitchFamily="34" charset="0"/>
              <a:buChar char="•"/>
            </a:pPr>
            <a:r>
              <a:rPr lang="en-US" dirty="0">
                <a:latin typeface="Century Gothic" panose="020B0502020202020204" pitchFamily="34" charset="0"/>
              </a:rPr>
              <a:t>Logs validate accurate detection and provide actionable insights.</a:t>
            </a:r>
          </a:p>
          <a:p>
            <a:pPr algn="just">
              <a:buFont typeface="Arial" panose="020B0604020202020204" pitchFamily="34" charset="0"/>
              <a:buChar char="•"/>
            </a:pPr>
            <a:r>
              <a:rPr lang="en-US" b="1" dirty="0">
                <a:latin typeface="Century Gothic" panose="020B0502020202020204" pitchFamily="34" charset="0"/>
              </a:rPr>
              <a:t>Model Evaluation:</a:t>
            </a:r>
            <a:endParaRPr lang="en-US" dirty="0">
              <a:latin typeface="Century Gothic" panose="020B0502020202020204" pitchFamily="34" charset="0"/>
            </a:endParaRPr>
          </a:p>
          <a:p>
            <a:pPr marL="742950" lvl="1" indent="-285750" algn="just">
              <a:buFont typeface="Arial" panose="020B0604020202020204" pitchFamily="34" charset="0"/>
              <a:buChar char="•"/>
            </a:pPr>
            <a:r>
              <a:rPr lang="en-US" dirty="0" err="1">
                <a:latin typeface="Century Gothic" panose="020B0502020202020204" pitchFamily="34" charset="0"/>
              </a:rPr>
              <a:t>XGBoost</a:t>
            </a:r>
            <a:r>
              <a:rPr lang="en-US" dirty="0">
                <a:latin typeface="Century Gothic" panose="020B0502020202020204" pitchFamily="34" charset="0"/>
              </a:rPr>
              <a:t> achieved the best accuracy (72.71%) compared to Random Forest (70.78%) and Decision Tree (68.90%).</a:t>
            </a:r>
          </a:p>
          <a:p>
            <a:pPr marL="742950" lvl="1" indent="-285750" algn="just">
              <a:buFont typeface="Arial" panose="020B0604020202020204" pitchFamily="34" charset="0"/>
              <a:buChar char="•"/>
            </a:pPr>
            <a:r>
              <a:rPr lang="en-US" dirty="0">
                <a:latin typeface="Century Gothic" panose="020B0502020202020204" pitchFamily="34" charset="0"/>
              </a:rPr>
              <a:t>Confusion matrix analysis highlighted minimal misclassifications and strong detection for diverse attack types.</a:t>
            </a:r>
          </a:p>
          <a:p>
            <a:pPr algn="just">
              <a:buFont typeface="Arial" panose="020B0604020202020204" pitchFamily="34" charset="0"/>
              <a:buChar char="•"/>
            </a:pPr>
            <a:r>
              <a:rPr lang="en-US" b="1" dirty="0">
                <a:latin typeface="Century Gothic" panose="020B0502020202020204" pitchFamily="34" charset="0"/>
              </a:rPr>
              <a:t>Email Alert Efficiency:</a:t>
            </a:r>
            <a:endParaRPr lang="en-US" dirty="0">
              <a:latin typeface="Century Gothic" panose="020B0502020202020204" pitchFamily="34" charset="0"/>
            </a:endParaRPr>
          </a:p>
          <a:p>
            <a:pPr marL="742950" lvl="1" indent="-285750" algn="just">
              <a:buFont typeface="Arial" panose="020B0604020202020204" pitchFamily="34" charset="0"/>
              <a:buChar char="•"/>
            </a:pPr>
            <a:r>
              <a:rPr lang="en-US" dirty="0">
                <a:latin typeface="Century Gothic" panose="020B0502020202020204" pitchFamily="34" charset="0"/>
              </a:rPr>
              <a:t>Prompt notifications to administrators with details of detected attacks.</a:t>
            </a:r>
          </a:p>
          <a:p>
            <a:pPr marL="742950" lvl="1" indent="-285750" algn="just">
              <a:buFont typeface="Arial" panose="020B0604020202020204" pitchFamily="34" charset="0"/>
              <a:buChar char="•"/>
            </a:pPr>
            <a:r>
              <a:rPr lang="en-US" dirty="0">
                <a:latin typeface="Century Gothic" panose="020B0502020202020204" pitchFamily="34" charset="0"/>
              </a:rPr>
              <a:t>Includes attack type, timestamp, and traffic characteristics for immediate response.</a:t>
            </a:r>
          </a:p>
        </p:txBody>
      </p:sp>
    </p:spTree>
    <p:extLst>
      <p:ext uri="{BB962C8B-B14F-4D97-AF65-F5344CB8AC3E}">
        <p14:creationId xmlns:p14="http://schemas.microsoft.com/office/powerpoint/2010/main" val="17808620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700E2D3-2508-6929-433E-F52F482070DA}"/>
              </a:ext>
            </a:extLst>
          </p:cNvPr>
          <p:cNvSpPr>
            <a:spLocks noGrp="1"/>
          </p:cNvSpPr>
          <p:nvPr>
            <p:ph type="title"/>
          </p:nvPr>
        </p:nvSpPr>
        <p:spPr>
          <a:xfrm>
            <a:off x="523794" y="762000"/>
            <a:ext cx="7924800" cy="553998"/>
          </a:xfrm>
        </p:spPr>
        <p:txBody>
          <a:bodyPr/>
          <a:lstStyle/>
          <a:p>
            <a:pPr algn="ctr"/>
            <a:r>
              <a:rPr lang="en-US" sz="3600" b="1" dirty="0">
                <a:solidFill>
                  <a:schemeClr val="tx1"/>
                </a:solidFill>
                <a:latin typeface="Century Gothic" panose="020B0502020202020204" pitchFamily="34" charset="0"/>
              </a:rPr>
              <a:t>6.Contribution to Social Business</a:t>
            </a:r>
            <a:endParaRPr lang="en-US" sz="3600" dirty="0">
              <a:solidFill>
                <a:schemeClr val="tx1"/>
              </a:solidFill>
              <a:latin typeface="Century Gothic" panose="020B0502020202020204" pitchFamily="34" charset="0"/>
            </a:endParaRPr>
          </a:p>
        </p:txBody>
      </p:sp>
      <p:sp>
        <p:nvSpPr>
          <p:cNvPr id="7" name="TextBox 6">
            <a:extLst>
              <a:ext uri="{FF2B5EF4-FFF2-40B4-BE49-F238E27FC236}">
                <a16:creationId xmlns:a16="http://schemas.microsoft.com/office/drawing/2014/main" id="{77BF9A74-2CBB-6F46-8282-2B6CF4D88895}"/>
              </a:ext>
            </a:extLst>
          </p:cNvPr>
          <p:cNvSpPr txBox="1"/>
          <p:nvPr/>
        </p:nvSpPr>
        <p:spPr>
          <a:xfrm>
            <a:off x="523794" y="2590800"/>
            <a:ext cx="7245404" cy="2031325"/>
          </a:xfrm>
          <a:prstGeom prst="rect">
            <a:avLst/>
          </a:prstGeom>
          <a:noFill/>
        </p:spPr>
        <p:txBody>
          <a:bodyPr wrap="square">
            <a:spAutoFit/>
          </a:bodyPr>
          <a:lstStyle/>
          <a:p>
            <a:pPr marL="742950" lvl="1" indent="-285750" algn="just">
              <a:buFont typeface="Wingdings" panose="05000000000000000000" pitchFamily="2" charset="2"/>
              <a:buChar char="Ø"/>
            </a:pPr>
            <a:r>
              <a:rPr lang="en-US" dirty="0">
                <a:latin typeface="Century Gothic" panose="020B0502020202020204" pitchFamily="34" charset="0"/>
              </a:rPr>
              <a:t>Social enterprises face increasing cyber-attacks, necessitating improved cybersecurity.</a:t>
            </a:r>
          </a:p>
          <a:p>
            <a:pPr marL="742950" lvl="1" indent="-285750" algn="just">
              <a:buFont typeface="Wingdings" panose="05000000000000000000" pitchFamily="2" charset="2"/>
              <a:buChar char="Ø"/>
            </a:pPr>
            <a:r>
              <a:rPr lang="en-US" dirty="0">
                <a:latin typeface="Century Gothic" panose="020B0502020202020204" pitchFamily="34" charset="0"/>
              </a:rPr>
              <a:t>Machine learning-based IDS is cost-effective and highly secure for small to medium-sized enterprises (SMEs).</a:t>
            </a:r>
          </a:p>
          <a:p>
            <a:pPr marL="742950" lvl="1" indent="-285750" algn="just">
              <a:buFont typeface="Wingdings" panose="05000000000000000000" pitchFamily="2" charset="2"/>
              <a:buChar char="Ø"/>
            </a:pPr>
            <a:r>
              <a:rPr lang="en-US" dirty="0">
                <a:latin typeface="Century Gothic" panose="020B0502020202020204" pitchFamily="34" charset="0"/>
              </a:rPr>
              <a:t>Essential in protecting confidential information</a:t>
            </a:r>
          </a:p>
          <a:p>
            <a:pPr marL="742950" lvl="1" indent="-285750" algn="just">
              <a:buFont typeface="Wingdings" panose="05000000000000000000" pitchFamily="2" charset="2"/>
              <a:buChar char="Ø"/>
            </a:pPr>
            <a:r>
              <a:rPr lang="en-US" dirty="0">
                <a:latin typeface="Century Gothic" panose="020B0502020202020204" pitchFamily="34" charset="0"/>
              </a:rPr>
              <a:t>Helps socially responsible organizations remain sustainable and impactful while mitigating cyber threats.</a:t>
            </a:r>
          </a:p>
        </p:txBody>
      </p:sp>
      <p:sp>
        <p:nvSpPr>
          <p:cNvPr id="9" name="TextBox 8">
            <a:extLst>
              <a:ext uri="{FF2B5EF4-FFF2-40B4-BE49-F238E27FC236}">
                <a16:creationId xmlns:a16="http://schemas.microsoft.com/office/drawing/2014/main" id="{154927BC-DF34-1CA3-D518-F28F35B7BFD3}"/>
              </a:ext>
            </a:extLst>
          </p:cNvPr>
          <p:cNvSpPr txBox="1"/>
          <p:nvPr/>
        </p:nvSpPr>
        <p:spPr>
          <a:xfrm>
            <a:off x="457200" y="1981200"/>
            <a:ext cx="4572000" cy="369332"/>
          </a:xfrm>
          <a:prstGeom prst="rect">
            <a:avLst/>
          </a:prstGeom>
          <a:noFill/>
        </p:spPr>
        <p:txBody>
          <a:bodyPr wrap="square">
            <a:spAutoFit/>
          </a:bodyPr>
          <a:lstStyle/>
          <a:p>
            <a:r>
              <a:rPr lang="en-US" b="1" dirty="0">
                <a:latin typeface="Century Gothic" panose="020B0502020202020204" pitchFamily="34" charset="0"/>
              </a:rPr>
              <a:t>Contribution to Social Business</a:t>
            </a:r>
            <a:endParaRPr lang="en-US" dirty="0">
              <a:latin typeface="Century Gothic" panose="020B0502020202020204" pitchFamily="34" charset="0"/>
            </a:endParaRPr>
          </a:p>
        </p:txBody>
      </p:sp>
    </p:spTree>
    <p:extLst>
      <p:ext uri="{BB962C8B-B14F-4D97-AF65-F5344CB8AC3E}">
        <p14:creationId xmlns:p14="http://schemas.microsoft.com/office/powerpoint/2010/main" val="10982878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700E2D3-2508-6929-433E-F52F482070DA}"/>
              </a:ext>
            </a:extLst>
          </p:cNvPr>
          <p:cNvSpPr>
            <a:spLocks noGrp="1"/>
          </p:cNvSpPr>
          <p:nvPr>
            <p:ph type="title"/>
          </p:nvPr>
        </p:nvSpPr>
        <p:spPr>
          <a:xfrm>
            <a:off x="457200" y="655499"/>
            <a:ext cx="7924800" cy="615553"/>
          </a:xfrm>
        </p:spPr>
        <p:txBody>
          <a:bodyPr/>
          <a:lstStyle/>
          <a:p>
            <a:pPr algn="ctr"/>
            <a:r>
              <a:rPr lang="en-US" sz="4000" b="1" dirty="0">
                <a:solidFill>
                  <a:schemeClr val="tx1"/>
                </a:solidFill>
                <a:latin typeface="Century Gothic" panose="020B0502020202020204" pitchFamily="34" charset="0"/>
              </a:rPr>
              <a:t>7.Future Work</a:t>
            </a:r>
            <a:endParaRPr lang="en-US" sz="4000" dirty="0">
              <a:solidFill>
                <a:schemeClr val="tx1"/>
              </a:solidFill>
              <a:latin typeface="Century Gothic" panose="020B0502020202020204" pitchFamily="34" charset="0"/>
            </a:endParaRPr>
          </a:p>
        </p:txBody>
      </p:sp>
      <p:sp>
        <p:nvSpPr>
          <p:cNvPr id="4" name="TextBox 3">
            <a:extLst>
              <a:ext uri="{FF2B5EF4-FFF2-40B4-BE49-F238E27FC236}">
                <a16:creationId xmlns:a16="http://schemas.microsoft.com/office/drawing/2014/main" id="{361D8871-9493-A4FA-D4F2-61C9F39699E7}"/>
              </a:ext>
            </a:extLst>
          </p:cNvPr>
          <p:cNvSpPr txBox="1"/>
          <p:nvPr/>
        </p:nvSpPr>
        <p:spPr>
          <a:xfrm>
            <a:off x="457200" y="2057400"/>
            <a:ext cx="7162800" cy="3693319"/>
          </a:xfrm>
          <a:prstGeom prst="rect">
            <a:avLst/>
          </a:prstGeom>
          <a:noFill/>
        </p:spPr>
        <p:txBody>
          <a:bodyPr wrap="square">
            <a:spAutoFit/>
          </a:bodyPr>
          <a:lstStyle/>
          <a:p>
            <a:pPr marL="742950" lvl="1" indent="-285750" algn="just">
              <a:buFont typeface="Arial" panose="020B0604020202020204" pitchFamily="34" charset="0"/>
              <a:buChar char="•"/>
            </a:pPr>
            <a:r>
              <a:rPr lang="en-US" b="1" dirty="0">
                <a:latin typeface="Century Gothic" panose="020B0502020202020204" pitchFamily="34" charset="0"/>
              </a:rPr>
              <a:t>Deep Packet Inspection:</a:t>
            </a:r>
            <a:r>
              <a:rPr lang="en-US" dirty="0">
                <a:latin typeface="Century Gothic" panose="020B0502020202020204" pitchFamily="34" charset="0"/>
              </a:rPr>
              <a:t> Enable analysis of encrypted traffic to detect concealed attacks.</a:t>
            </a:r>
          </a:p>
          <a:p>
            <a:pPr marL="742950" lvl="1" indent="-285750" algn="just">
              <a:buFont typeface="Arial" panose="020B0604020202020204" pitchFamily="34" charset="0"/>
              <a:buChar char="•"/>
            </a:pPr>
            <a:r>
              <a:rPr lang="en-US" b="1" dirty="0">
                <a:latin typeface="Century Gothic" panose="020B0502020202020204" pitchFamily="34" charset="0"/>
              </a:rPr>
              <a:t>Integration with SIEM Systems:</a:t>
            </a:r>
            <a:r>
              <a:rPr lang="en-US" dirty="0">
                <a:latin typeface="Century Gothic" panose="020B0502020202020204" pitchFamily="34" charset="0"/>
              </a:rPr>
              <a:t> Enhance threat correlation and detection through real-time data integration.</a:t>
            </a:r>
          </a:p>
          <a:p>
            <a:pPr marL="742950" lvl="1" indent="-285750" algn="just">
              <a:buFont typeface="Arial" panose="020B0604020202020204" pitchFamily="34" charset="0"/>
              <a:buChar char="•"/>
            </a:pPr>
            <a:r>
              <a:rPr lang="en-US" b="1" dirty="0">
                <a:latin typeface="Century Gothic" panose="020B0502020202020204" pitchFamily="34" charset="0"/>
              </a:rPr>
              <a:t>Hybrid Detection Methods:</a:t>
            </a:r>
            <a:r>
              <a:rPr lang="en-US" dirty="0">
                <a:latin typeface="Century Gothic" panose="020B0502020202020204" pitchFamily="34" charset="0"/>
              </a:rPr>
              <a:t> Combine anomaly-based and signature-based techniques for better accuracy.</a:t>
            </a:r>
          </a:p>
          <a:p>
            <a:pPr marL="742950" lvl="1" indent="-285750" algn="just">
              <a:buFont typeface="Arial" panose="020B0604020202020204" pitchFamily="34" charset="0"/>
              <a:buChar char="•"/>
            </a:pPr>
            <a:r>
              <a:rPr lang="en-US" b="1" dirty="0">
                <a:latin typeface="Century Gothic" panose="020B0502020202020204" pitchFamily="34" charset="0"/>
              </a:rPr>
              <a:t>Automated Model Retraining:</a:t>
            </a:r>
            <a:r>
              <a:rPr lang="en-US" dirty="0">
                <a:latin typeface="Century Gothic" panose="020B0502020202020204" pitchFamily="34" charset="0"/>
              </a:rPr>
              <a:t> Address model drift and maintain detection accuracy.</a:t>
            </a:r>
          </a:p>
          <a:p>
            <a:pPr marL="742950" lvl="1" indent="-285750" algn="just">
              <a:buFont typeface="Arial" panose="020B0604020202020204" pitchFamily="34" charset="0"/>
              <a:buChar char="•"/>
            </a:pPr>
            <a:r>
              <a:rPr lang="en-US" b="1" dirty="0">
                <a:latin typeface="Century Gothic" panose="020B0502020202020204" pitchFamily="34" charset="0"/>
              </a:rPr>
              <a:t>Distributed Processing:</a:t>
            </a:r>
            <a:r>
              <a:rPr lang="en-US" dirty="0">
                <a:latin typeface="Century Gothic" panose="020B0502020202020204" pitchFamily="34" charset="0"/>
              </a:rPr>
              <a:t> Scale the IDS for large networks with high traffic volumes.</a:t>
            </a:r>
          </a:p>
          <a:p>
            <a:pPr marL="742950" lvl="1" indent="-285750" algn="just">
              <a:buFont typeface="Arial" panose="020B0604020202020204" pitchFamily="34" charset="0"/>
              <a:buChar char="•"/>
            </a:pPr>
            <a:r>
              <a:rPr lang="en-US" b="1" dirty="0">
                <a:latin typeface="Century Gothic" panose="020B0502020202020204" pitchFamily="34" charset="0"/>
              </a:rPr>
              <a:t>User-Friendly GUI:</a:t>
            </a:r>
            <a:r>
              <a:rPr lang="en-US" dirty="0">
                <a:latin typeface="Century Gothic" panose="020B0502020202020204" pitchFamily="34" charset="0"/>
              </a:rPr>
              <a:t> Improve usability for administrators and non-technical users.</a:t>
            </a:r>
          </a:p>
        </p:txBody>
      </p:sp>
      <p:sp>
        <p:nvSpPr>
          <p:cNvPr id="7" name="TextBox 6">
            <a:extLst>
              <a:ext uri="{FF2B5EF4-FFF2-40B4-BE49-F238E27FC236}">
                <a16:creationId xmlns:a16="http://schemas.microsoft.com/office/drawing/2014/main" id="{5CD1A1C9-E5D8-8857-7102-5B17DF8AA7BB}"/>
              </a:ext>
            </a:extLst>
          </p:cNvPr>
          <p:cNvSpPr txBox="1"/>
          <p:nvPr/>
        </p:nvSpPr>
        <p:spPr>
          <a:xfrm>
            <a:off x="457200" y="1524000"/>
            <a:ext cx="3276600" cy="369332"/>
          </a:xfrm>
          <a:prstGeom prst="rect">
            <a:avLst/>
          </a:prstGeom>
          <a:noFill/>
        </p:spPr>
        <p:txBody>
          <a:bodyPr wrap="square">
            <a:spAutoFit/>
          </a:bodyPr>
          <a:lstStyle/>
          <a:p>
            <a:r>
              <a:rPr lang="en-US" b="1" dirty="0">
                <a:latin typeface="Century Gothic" panose="020B0502020202020204" pitchFamily="34" charset="0"/>
              </a:rPr>
              <a:t>Proposed Improvements</a:t>
            </a:r>
            <a:endParaRPr lang="en-US" dirty="0">
              <a:latin typeface="Century Gothic" panose="020B0502020202020204" pitchFamily="34" charset="0"/>
            </a:endParaRPr>
          </a:p>
        </p:txBody>
      </p:sp>
    </p:spTree>
    <p:extLst>
      <p:ext uri="{BB962C8B-B14F-4D97-AF65-F5344CB8AC3E}">
        <p14:creationId xmlns:p14="http://schemas.microsoft.com/office/powerpoint/2010/main" val="31602499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700E2D3-2508-6929-433E-F52F482070DA}"/>
              </a:ext>
            </a:extLst>
          </p:cNvPr>
          <p:cNvSpPr>
            <a:spLocks noGrp="1"/>
          </p:cNvSpPr>
          <p:nvPr>
            <p:ph type="title"/>
          </p:nvPr>
        </p:nvSpPr>
        <p:spPr>
          <a:xfrm>
            <a:off x="533400" y="685800"/>
            <a:ext cx="7924800" cy="615553"/>
          </a:xfrm>
        </p:spPr>
        <p:txBody>
          <a:bodyPr/>
          <a:lstStyle/>
          <a:p>
            <a:pPr algn="ctr"/>
            <a:r>
              <a:rPr lang="en-US" sz="4000" b="1" dirty="0">
                <a:solidFill>
                  <a:schemeClr val="tx1"/>
                </a:solidFill>
                <a:latin typeface="Century Gothic" panose="020B0502020202020204" pitchFamily="34" charset="0"/>
              </a:rPr>
              <a:t>8.Conclusion</a:t>
            </a:r>
            <a:endParaRPr lang="en-US" sz="4000" dirty="0">
              <a:solidFill>
                <a:schemeClr val="tx1"/>
              </a:solidFill>
              <a:latin typeface="Century Gothic" panose="020B0502020202020204" pitchFamily="34" charset="0"/>
            </a:endParaRPr>
          </a:p>
        </p:txBody>
      </p:sp>
      <p:sp>
        <p:nvSpPr>
          <p:cNvPr id="4" name="TextBox 3">
            <a:extLst>
              <a:ext uri="{FF2B5EF4-FFF2-40B4-BE49-F238E27FC236}">
                <a16:creationId xmlns:a16="http://schemas.microsoft.com/office/drawing/2014/main" id="{DA6671B9-9944-80E8-DC3E-C91952A5FB11}"/>
              </a:ext>
            </a:extLst>
          </p:cNvPr>
          <p:cNvSpPr txBox="1"/>
          <p:nvPr/>
        </p:nvSpPr>
        <p:spPr>
          <a:xfrm>
            <a:off x="685800" y="2438400"/>
            <a:ext cx="7543800" cy="3139321"/>
          </a:xfrm>
          <a:prstGeom prst="rect">
            <a:avLst/>
          </a:prstGeom>
          <a:noFill/>
        </p:spPr>
        <p:txBody>
          <a:bodyPr wrap="square">
            <a:spAutoFit/>
          </a:bodyPr>
          <a:lstStyle/>
          <a:p>
            <a:pPr marL="742950" lvl="1" indent="-285750" algn="just">
              <a:buFont typeface="Wingdings" panose="05000000000000000000" pitchFamily="2" charset="2"/>
              <a:buChar char="v"/>
            </a:pPr>
            <a:r>
              <a:rPr lang="en-US" dirty="0">
                <a:latin typeface="Century Gothic" panose="020B0502020202020204" pitchFamily="34" charset="0"/>
              </a:rPr>
              <a:t>Effective use of machine learning (e.g., </a:t>
            </a:r>
            <a:r>
              <a:rPr lang="en-US" dirty="0" err="1">
                <a:latin typeface="Century Gothic" panose="020B0502020202020204" pitchFamily="34" charset="0"/>
              </a:rPr>
              <a:t>XGBoost</a:t>
            </a:r>
            <a:r>
              <a:rPr lang="en-US" dirty="0">
                <a:latin typeface="Century Gothic" panose="020B0502020202020204" pitchFamily="34" charset="0"/>
              </a:rPr>
              <a:t>) to detect and classify network intrusions.</a:t>
            </a:r>
          </a:p>
          <a:p>
            <a:pPr marL="742950" lvl="1" indent="-285750" algn="just">
              <a:buFont typeface="Wingdings" panose="05000000000000000000" pitchFamily="2" charset="2"/>
              <a:buChar char="v"/>
            </a:pPr>
            <a:r>
              <a:rPr lang="en-US" dirty="0">
                <a:latin typeface="Century Gothic" panose="020B0502020202020204" pitchFamily="34" charset="0"/>
              </a:rPr>
              <a:t>UNSW-NB15 dataset and preprocessing techniques enabled strong detection performance.</a:t>
            </a:r>
          </a:p>
          <a:p>
            <a:pPr marL="742950" lvl="1" indent="-285750" algn="just">
              <a:buFont typeface="Wingdings" panose="05000000000000000000" pitchFamily="2" charset="2"/>
              <a:buChar char="v"/>
            </a:pPr>
            <a:r>
              <a:rPr lang="en-US" dirty="0">
                <a:latin typeface="Century Gothic" panose="020B0502020202020204" pitchFamily="34" charset="0"/>
              </a:rPr>
              <a:t>Enhanced real-time monitoring and alert systems.</a:t>
            </a:r>
          </a:p>
          <a:p>
            <a:pPr marL="742950" lvl="1" indent="-285750" algn="just">
              <a:buFont typeface="Wingdings" panose="05000000000000000000" pitchFamily="2" charset="2"/>
              <a:buChar char="v"/>
            </a:pPr>
            <a:r>
              <a:rPr lang="en-US" dirty="0">
                <a:latin typeface="Century Gothic" panose="020B0502020202020204" pitchFamily="34" charset="0"/>
              </a:rPr>
              <a:t>Adaptable architecture suitable for SMEs in critical fields like healthcare and education.</a:t>
            </a:r>
          </a:p>
          <a:p>
            <a:pPr marL="742950" lvl="1" indent="-285750" algn="just">
              <a:buFont typeface="Wingdings" panose="05000000000000000000" pitchFamily="2" charset="2"/>
              <a:buChar char="v"/>
            </a:pPr>
            <a:r>
              <a:rPr lang="en-US" dirty="0">
                <a:latin typeface="Century Gothic" panose="020B0502020202020204" pitchFamily="34" charset="0"/>
              </a:rPr>
              <a:t>Persistent challenges include class imbalances, encrypted traffic analysis, and scalability issues.</a:t>
            </a:r>
          </a:p>
          <a:p>
            <a:pPr marL="742950" lvl="1" indent="-285750" algn="just">
              <a:buFont typeface="Wingdings" panose="05000000000000000000" pitchFamily="2" charset="2"/>
              <a:buChar char="v"/>
            </a:pPr>
            <a:r>
              <a:rPr lang="en-US" dirty="0">
                <a:latin typeface="Century Gothic" panose="020B0502020202020204" pitchFamily="34" charset="0"/>
              </a:rPr>
              <a:t>Future advancements aim to overcome these limitations, ensuring a robust and user-friendly IDS.</a:t>
            </a:r>
          </a:p>
        </p:txBody>
      </p:sp>
      <p:sp>
        <p:nvSpPr>
          <p:cNvPr id="7" name="TextBox 6">
            <a:extLst>
              <a:ext uri="{FF2B5EF4-FFF2-40B4-BE49-F238E27FC236}">
                <a16:creationId xmlns:a16="http://schemas.microsoft.com/office/drawing/2014/main" id="{D753FE82-44BE-5434-8525-CE95C82B42DD}"/>
              </a:ext>
            </a:extLst>
          </p:cNvPr>
          <p:cNvSpPr txBox="1"/>
          <p:nvPr/>
        </p:nvSpPr>
        <p:spPr>
          <a:xfrm>
            <a:off x="457200" y="1905000"/>
            <a:ext cx="4572000" cy="369332"/>
          </a:xfrm>
          <a:prstGeom prst="rect">
            <a:avLst/>
          </a:prstGeom>
          <a:noFill/>
        </p:spPr>
        <p:txBody>
          <a:bodyPr wrap="square">
            <a:spAutoFit/>
          </a:bodyPr>
          <a:lstStyle/>
          <a:p>
            <a:r>
              <a:rPr lang="en-US" b="1" dirty="0">
                <a:latin typeface="Century Gothic" panose="020B0502020202020204" pitchFamily="34" charset="0"/>
              </a:rPr>
              <a:t>Key Takeaways:</a:t>
            </a:r>
            <a:endParaRPr lang="en-US" dirty="0">
              <a:latin typeface="Century Gothic" panose="020B0502020202020204" pitchFamily="34" charset="0"/>
            </a:endParaRPr>
          </a:p>
        </p:txBody>
      </p:sp>
    </p:spTree>
    <p:extLst>
      <p:ext uri="{BB962C8B-B14F-4D97-AF65-F5344CB8AC3E}">
        <p14:creationId xmlns:p14="http://schemas.microsoft.com/office/powerpoint/2010/main" val="1709481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700E2D3-2508-6929-433E-F52F482070DA}"/>
              </a:ext>
            </a:extLst>
          </p:cNvPr>
          <p:cNvSpPr>
            <a:spLocks noGrp="1"/>
          </p:cNvSpPr>
          <p:nvPr>
            <p:ph type="title"/>
          </p:nvPr>
        </p:nvSpPr>
        <p:spPr>
          <a:xfrm>
            <a:off x="723900" y="762000"/>
            <a:ext cx="7924800" cy="615553"/>
          </a:xfrm>
        </p:spPr>
        <p:txBody>
          <a:bodyPr/>
          <a:lstStyle/>
          <a:p>
            <a:pPr algn="ctr"/>
            <a:r>
              <a:rPr lang="en-US" sz="4000" b="1" dirty="0">
                <a:solidFill>
                  <a:schemeClr val="tx1"/>
                </a:solidFill>
                <a:latin typeface="Century Gothic" panose="020B0502020202020204" pitchFamily="34" charset="0"/>
              </a:rPr>
              <a:t>9.References </a:t>
            </a:r>
            <a:endParaRPr lang="en-US" sz="4000" dirty="0">
              <a:solidFill>
                <a:schemeClr val="tx1"/>
              </a:solidFill>
              <a:latin typeface="Century Gothic" panose="020B0502020202020204" pitchFamily="34" charset="0"/>
            </a:endParaRPr>
          </a:p>
        </p:txBody>
      </p:sp>
      <p:sp>
        <p:nvSpPr>
          <p:cNvPr id="3" name="TextBox 2">
            <a:extLst>
              <a:ext uri="{FF2B5EF4-FFF2-40B4-BE49-F238E27FC236}">
                <a16:creationId xmlns:a16="http://schemas.microsoft.com/office/drawing/2014/main" id="{4465FEE6-131E-1E4A-70EE-9AD4FA04C6FF}"/>
              </a:ext>
            </a:extLst>
          </p:cNvPr>
          <p:cNvSpPr txBox="1"/>
          <p:nvPr/>
        </p:nvSpPr>
        <p:spPr>
          <a:xfrm>
            <a:off x="381000" y="2133600"/>
            <a:ext cx="8610600" cy="4247317"/>
          </a:xfrm>
          <a:prstGeom prst="rect">
            <a:avLst/>
          </a:prstGeom>
          <a:noFill/>
        </p:spPr>
        <p:txBody>
          <a:bodyPr wrap="square">
            <a:spAutoFit/>
          </a:bodyPr>
          <a:lstStyle/>
          <a:p>
            <a:pPr algn="just"/>
            <a:r>
              <a:rPr lang="en-US" dirty="0">
                <a:latin typeface="Century Gothic" panose="020B0502020202020204" pitchFamily="34" charset="0"/>
              </a:rPr>
              <a:t>Abdallah, A. E. (2023). AI-Powered Network Anomaly Detection System. International Journal of Managing Information Technology (IJMIT), 15(3), 1-12. Available at </a:t>
            </a:r>
            <a:r>
              <a:rPr lang="en-US" dirty="0">
                <a:latin typeface="Century Gothic" panose="020B0502020202020204" pitchFamily="34" charset="0"/>
                <a:hlinkClick r:id="rId2"/>
              </a:rPr>
              <a:t>https://aircconline.com/ijmit/V15N3/15323ijmit01.pdf</a:t>
            </a:r>
            <a:r>
              <a:rPr lang="en-US" dirty="0">
                <a:latin typeface="Century Gothic" panose="020B0502020202020204" pitchFamily="34" charset="0"/>
              </a:rPr>
              <a:t> </a:t>
            </a:r>
          </a:p>
          <a:p>
            <a:pPr algn="just"/>
            <a:endParaRPr lang="en-US" dirty="0">
              <a:latin typeface="Century Gothic" panose="020B0502020202020204" pitchFamily="34" charset="0"/>
            </a:endParaRPr>
          </a:p>
          <a:p>
            <a:pPr algn="just"/>
            <a:r>
              <a:rPr lang="en-US" sz="1800" b="0" i="0" u="none" strike="noStrike" dirty="0">
                <a:solidFill>
                  <a:srgbClr val="000000"/>
                </a:solidFill>
                <a:effectLst/>
                <a:latin typeface="Century Gothic" panose="020B0502020202020204" pitchFamily="34" charset="0"/>
              </a:rPr>
              <a:t>Widodo, T., &amp; Aji, A. S. (2021). Implementation of intrusion detection system (IDS) and Snort community rules to detect types of network attacks. </a:t>
            </a:r>
            <a:r>
              <a:rPr lang="en-US" sz="1800" b="0" i="1" u="none" strike="noStrike" dirty="0">
                <a:solidFill>
                  <a:srgbClr val="000000"/>
                </a:solidFill>
                <a:effectLst/>
                <a:latin typeface="Century Gothic" panose="020B0502020202020204" pitchFamily="34" charset="0"/>
              </a:rPr>
              <a:t>International Journal of Computer Applications, 183</a:t>
            </a:r>
            <a:r>
              <a:rPr lang="en-US" sz="1800" b="0" i="0" u="none" strike="noStrike" dirty="0">
                <a:solidFill>
                  <a:srgbClr val="000000"/>
                </a:solidFill>
                <a:effectLst/>
                <a:latin typeface="Century Gothic" panose="020B0502020202020204" pitchFamily="34" charset="0"/>
              </a:rPr>
              <a:t>(42). </a:t>
            </a:r>
          </a:p>
          <a:p>
            <a:pPr algn="just"/>
            <a:endParaRPr lang="en-US" dirty="0">
              <a:solidFill>
                <a:srgbClr val="000000"/>
              </a:solidFill>
              <a:latin typeface="Century Gothic" panose="020B0502020202020204" pitchFamily="34" charset="0"/>
            </a:endParaRPr>
          </a:p>
          <a:p>
            <a:pPr algn="just"/>
            <a:endParaRPr lang="en-US" sz="1800" b="0" i="0" u="none" strike="noStrike" dirty="0">
              <a:solidFill>
                <a:srgbClr val="000000"/>
              </a:solidFill>
              <a:effectLst/>
              <a:latin typeface="Century Gothic" panose="020B0502020202020204" pitchFamily="34" charset="0"/>
            </a:endParaRPr>
          </a:p>
          <a:p>
            <a:pPr algn="just"/>
            <a:r>
              <a:rPr lang="en-US" sz="1800" b="0" i="0" u="none" strike="noStrike" dirty="0">
                <a:solidFill>
                  <a:srgbClr val="000000"/>
                </a:solidFill>
                <a:effectLst/>
                <a:latin typeface="Century Gothic" panose="020B0502020202020204" pitchFamily="34" charset="0"/>
              </a:rPr>
              <a:t>Zhang, Y., Wang, L., &amp; Lee, S. (2023). Machine learning approaches in intrusion detection systems: A comprehensive review. </a:t>
            </a:r>
            <a:r>
              <a:rPr lang="en-US" sz="1800" b="0" i="1" u="none" strike="noStrike" dirty="0">
                <a:solidFill>
                  <a:srgbClr val="000000"/>
                </a:solidFill>
                <a:effectLst/>
                <a:latin typeface="Century Gothic" panose="020B0502020202020204" pitchFamily="34" charset="0"/>
              </a:rPr>
              <a:t>Computers &amp; Security, 120</a:t>
            </a:r>
            <a:r>
              <a:rPr lang="en-US" sz="1800" b="0" i="0" u="none" strike="noStrike" dirty="0">
                <a:solidFill>
                  <a:srgbClr val="000000"/>
                </a:solidFill>
                <a:effectLst/>
                <a:latin typeface="Century Gothic" panose="020B0502020202020204" pitchFamily="34" charset="0"/>
              </a:rPr>
              <a:t>, 102839. </a:t>
            </a:r>
            <a:r>
              <a:rPr lang="en-US" sz="1800" b="0" i="0" u="none" strike="noStrike" dirty="0">
                <a:solidFill>
                  <a:srgbClr val="000000"/>
                </a:solidFill>
                <a:effectLst/>
                <a:latin typeface="Century Gothic" panose="020B0502020202020204" pitchFamily="34" charset="0"/>
                <a:hlinkClick r:id="rId3"/>
              </a:rPr>
              <a:t>https://doi.org/10.1016/j.cose.2023.102839</a:t>
            </a:r>
            <a:r>
              <a:rPr lang="en-US" dirty="0">
                <a:solidFill>
                  <a:srgbClr val="000000"/>
                </a:solidFill>
                <a:latin typeface="Century Gothic" panose="020B0502020202020204" pitchFamily="34" charset="0"/>
              </a:rPr>
              <a:t> </a:t>
            </a:r>
            <a:endParaRPr lang="en-US" sz="1800" b="0" i="0" u="none" strike="noStrike" dirty="0">
              <a:solidFill>
                <a:srgbClr val="000000"/>
              </a:solidFill>
              <a:effectLst/>
              <a:latin typeface="Century Gothic" panose="020B0502020202020204" pitchFamily="34" charset="0"/>
            </a:endParaRPr>
          </a:p>
          <a:p>
            <a:pPr algn="just"/>
            <a:r>
              <a:rPr lang="en-US" dirty="0">
                <a:latin typeface="Century Gothic" panose="020B0502020202020204" pitchFamily="34" charset="0"/>
              </a:rPr>
              <a:t> </a:t>
            </a:r>
          </a:p>
          <a:p>
            <a:pPr algn="just"/>
            <a:endParaRPr lang="en-US" dirty="0">
              <a:latin typeface="Century Gothic" panose="020B0502020202020204" pitchFamily="34" charset="0"/>
            </a:endParaRPr>
          </a:p>
          <a:p>
            <a:pPr algn="just"/>
            <a:endParaRPr lang="en-US" dirty="0">
              <a:latin typeface="Century Gothic" panose="020B0502020202020204" pitchFamily="34" charset="0"/>
            </a:endParaRPr>
          </a:p>
        </p:txBody>
      </p:sp>
    </p:spTree>
    <p:extLst>
      <p:ext uri="{BB962C8B-B14F-4D97-AF65-F5344CB8AC3E}">
        <p14:creationId xmlns:p14="http://schemas.microsoft.com/office/powerpoint/2010/main" val="32883871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9143999" cy="6857997"/>
          </a:xfrm>
          <a:prstGeom prst="rect">
            <a:avLst/>
          </a:prstGeom>
          <a:blipFill>
            <a:blip r:embed="rId2" cstate="print"/>
            <a:stretch>
              <a:fillRect/>
            </a:stretch>
          </a:blipFill>
        </p:spPr>
        <p:txBody>
          <a:bodyPr wrap="square" lIns="0" tIns="0" rIns="0" bIns="0" rtlCol="0"/>
          <a:lstStyle/>
          <a:p>
            <a:endParaRPr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23250</TotalTime>
  <Words>1523</Words>
  <Application>Microsoft Office PowerPoint</Application>
  <PresentationFormat>On-screen Show (4:3)</PresentationFormat>
  <Paragraphs>141</Paragraphs>
  <Slides>18</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Century Gothic</vt:lpstr>
      <vt:lpstr>Liberation Sans Narrow</vt:lpstr>
      <vt:lpstr>Times New Roman</vt:lpstr>
      <vt:lpstr>Wingdings</vt:lpstr>
      <vt:lpstr>Office Theme</vt:lpstr>
      <vt:lpstr>PowerPoint Presentation</vt:lpstr>
      <vt:lpstr>Introduction</vt:lpstr>
      <vt:lpstr>Introduction</vt:lpstr>
      <vt:lpstr>1.INTRODUCTION</vt:lpstr>
      <vt:lpstr>1.INTRODUCTION</vt:lpstr>
      <vt:lpstr>2.Literature Review</vt:lpstr>
      <vt:lpstr>3.Methodology</vt:lpstr>
      <vt:lpstr>3.Methodology</vt:lpstr>
      <vt:lpstr>3.Methodology</vt:lpstr>
      <vt:lpstr> 4.Implementation</vt:lpstr>
      <vt:lpstr>4.Implementation</vt:lpstr>
      <vt:lpstr>4. Implementation</vt:lpstr>
      <vt:lpstr>5.Result and Analysis</vt:lpstr>
      <vt:lpstr>6.Contribution to Social Business</vt:lpstr>
      <vt:lpstr>7.Future Work</vt:lpstr>
      <vt:lpstr>8.Conclusion</vt:lpstr>
      <vt:lpstr>9.References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my</dc:creator>
  <cp:lastModifiedBy>user</cp:lastModifiedBy>
  <cp:revision>38</cp:revision>
  <cp:lastPrinted>2023-10-20T07:54:05Z</cp:lastPrinted>
  <dcterms:created xsi:type="dcterms:W3CDTF">2023-10-20T07:14:45Z</dcterms:created>
  <dcterms:modified xsi:type="dcterms:W3CDTF">2025-01-22T07:49:11Z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2022-10-26T00:00:00Z</vt:filetime>
  </property>
  <property fmtid="{D5CDD505-2E9C-101B-9397-08002B2CF9AE}" pid="3" name="Creator">
    <vt:lpwstr>Microsoft® PowerPoint® for Microsoft 365</vt:lpwstr>
  </property>
  <property fmtid="{D5CDD505-2E9C-101B-9397-08002B2CF9AE}" pid="4" name="LastSaved">
    <vt:filetime>2023-10-20T00:00:00Z</vt:filetime>
  </property>
</Properties>
</file>